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bold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bold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4da8466e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4da8466e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4da8466e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b4da8466e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4da8466e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4da8466e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b4da8466e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b4da8466e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b4da8466e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b4da8466e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b4da8466e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b4da8466e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b4da8466e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b4da8466e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b4da8466e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b4da8466e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b4da8466e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b4da8466e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b4da8466e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fb4da8466e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b4da8466e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b4da8466e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4da8466e_8_0)">
  <p:cSld name="Generated (g3fb4da8466e_8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" y="9525"/>
            <a:ext cx="8972700" cy="497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0" y="0"/>
            <a:ext cx="9144000" cy="666900"/>
            <a:chOff x="0" y="0"/>
            <a:chExt cx="9144000" cy="6669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8" name="Google Shape;58;p14"/>
            <p:cNvCxnSpPr/>
            <p:nvPr/>
          </p:nvCxnSpPr>
          <p:spPr>
            <a:xfrm>
              <a:off x="0" y="66675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9" name="Google Shape;59;p14"/>
            <p:cNvGrpSpPr/>
            <p:nvPr/>
          </p:nvGrpSpPr>
          <p:grpSpPr>
            <a:xfrm>
              <a:off x="333375" y="142875"/>
              <a:ext cx="1428900" cy="381000"/>
              <a:chOff x="0" y="0"/>
              <a:chExt cx="1428900" cy="381000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4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TIDCO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2" name="Google Shape;62;p14"/>
            <p:cNvGrpSpPr/>
            <p:nvPr/>
          </p:nvGrpSpPr>
          <p:grpSpPr>
            <a:xfrm>
              <a:off x="2095500" y="142875"/>
              <a:ext cx="1428900" cy="381000"/>
              <a:chOff x="0" y="0"/>
              <a:chExt cx="1428900" cy="381000"/>
            </a:xfrm>
          </p:grpSpPr>
          <p:sp>
            <p:nvSpPr>
              <p:cNvPr id="63" name="Google Shape;63;p14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14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TANSAM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5" name="Google Shape;65;p14"/>
            <p:cNvGrpSpPr/>
            <p:nvPr/>
          </p:nvGrpSpPr>
          <p:grpSpPr>
            <a:xfrm>
              <a:off x="3857625" y="142875"/>
              <a:ext cx="1428900" cy="381000"/>
              <a:chOff x="0" y="0"/>
              <a:chExt cx="1428900" cy="381000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4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GOVT OF TN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8" name="Google Shape;68;p14"/>
            <p:cNvGrpSpPr/>
            <p:nvPr/>
          </p:nvGrpSpPr>
          <p:grpSpPr>
            <a:xfrm>
              <a:off x="5619750" y="142875"/>
              <a:ext cx="1428900" cy="381000"/>
              <a:chOff x="0" y="0"/>
              <a:chExt cx="1428900" cy="381000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4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SIEMENS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71" name="Google Shape;71;p14"/>
            <p:cNvGrpSpPr/>
            <p:nvPr/>
          </p:nvGrpSpPr>
          <p:grpSpPr>
            <a:xfrm>
              <a:off x="7381875" y="142875"/>
              <a:ext cx="1428900" cy="381000"/>
              <a:chOff x="0" y="0"/>
              <a:chExt cx="1428900" cy="381000"/>
            </a:xfrm>
          </p:grpSpPr>
          <p:sp>
            <p:nvSpPr>
              <p:cNvPr id="72" name="Google Shape;72;p14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4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TN SKILL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sp>
        <p:nvSpPr>
          <p:cNvPr id="74" name="Google Shape;74;p14"/>
          <p:cNvSpPr txBox="1"/>
          <p:nvPr/>
        </p:nvSpPr>
        <p:spPr>
          <a:xfrm>
            <a:off x="762000" y="1238250"/>
            <a:ext cx="76200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SMART NAVIGATION AID FOR VISUALLY IMPAIRED PEOPLE</a:t>
            </a:r>
            <a:endParaRPr b="1" sz="32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Malathi S</a:t>
            </a:r>
            <a:endParaRPr b="0" sz="1800">
              <a:solidFill>
                <a:srgbClr val="0284C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 NO: 422423106023</a:t>
            </a:r>
            <a:endParaRPr b="0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Dept of ECE IV Year</a:t>
            </a:r>
            <a:endParaRPr b="0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45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University College of Engineering Tindivanam</a:t>
            </a:r>
            <a:endParaRPr b="0" sz="14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0" name="Google Shape;80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" name="Google Shape;81;p15"/>
            <p:cNvGrpSpPr/>
            <p:nvPr/>
          </p:nvGrpSpPr>
          <p:grpSpPr>
            <a:xfrm>
              <a:off x="0" y="0"/>
              <a:ext cx="9144000" cy="666900"/>
              <a:chOff x="0" y="0"/>
              <a:chExt cx="9144000" cy="666900"/>
            </a:xfrm>
          </p:grpSpPr>
          <p:sp>
            <p:nvSpPr>
              <p:cNvPr id="82" name="Google Shape;82;p15"/>
              <p:cNvSpPr/>
              <p:nvPr/>
            </p:nvSpPr>
            <p:spPr>
              <a:xfrm>
                <a:off x="0" y="0"/>
                <a:ext cx="9144000" cy="666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3" name="Google Shape;83;p15"/>
              <p:cNvCxnSpPr/>
              <p:nvPr/>
            </p:nvCxnSpPr>
            <p:spPr>
              <a:xfrm>
                <a:off x="0" y="666750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84" name="Google Shape;84;p15"/>
              <p:cNvGrpSpPr/>
              <p:nvPr/>
            </p:nvGrpSpPr>
            <p:grpSpPr>
              <a:xfrm>
                <a:off x="333375" y="142875"/>
                <a:ext cx="1428900" cy="381000"/>
                <a:chOff x="0" y="0"/>
                <a:chExt cx="1428900" cy="381000"/>
              </a:xfrm>
            </p:grpSpPr>
            <p:sp>
              <p:nvSpPr>
                <p:cNvPr id="85" name="Google Shape;85;p15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" name="Google Shape;86;p15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TIDCO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87" name="Google Shape;87;p15"/>
              <p:cNvGrpSpPr/>
              <p:nvPr/>
            </p:nvGrpSpPr>
            <p:grpSpPr>
              <a:xfrm>
                <a:off x="2095500" y="142875"/>
                <a:ext cx="1428900" cy="381000"/>
                <a:chOff x="0" y="0"/>
                <a:chExt cx="1428900" cy="381000"/>
              </a:xfrm>
            </p:grpSpPr>
            <p:sp>
              <p:nvSpPr>
                <p:cNvPr id="88" name="Google Shape;88;p15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" name="Google Shape;89;p15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TANSAM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90" name="Google Shape;90;p15"/>
              <p:cNvGrpSpPr/>
              <p:nvPr/>
            </p:nvGrpSpPr>
            <p:grpSpPr>
              <a:xfrm>
                <a:off x="3857625" y="142875"/>
                <a:ext cx="1428900" cy="381000"/>
                <a:chOff x="0" y="0"/>
                <a:chExt cx="1428900" cy="381000"/>
              </a:xfrm>
            </p:grpSpPr>
            <p:sp>
              <p:nvSpPr>
                <p:cNvPr id="91" name="Google Shape;91;p15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" name="Google Shape;92;p15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GOVT OF TN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93" name="Google Shape;93;p15"/>
              <p:cNvGrpSpPr/>
              <p:nvPr/>
            </p:nvGrpSpPr>
            <p:grpSpPr>
              <a:xfrm>
                <a:off x="5619750" y="142875"/>
                <a:ext cx="1428900" cy="381000"/>
                <a:chOff x="0" y="0"/>
                <a:chExt cx="1428900" cy="381000"/>
              </a:xfrm>
            </p:grpSpPr>
            <p:sp>
              <p:nvSpPr>
                <p:cNvPr id="94" name="Google Shape;94;p15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5" name="Google Shape;95;p15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SIEMENS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96" name="Google Shape;96;p15"/>
              <p:cNvGrpSpPr/>
              <p:nvPr/>
            </p:nvGrpSpPr>
            <p:grpSpPr>
              <a:xfrm>
                <a:off x="7381875" y="142875"/>
                <a:ext cx="1428900" cy="381000"/>
                <a:chOff x="0" y="0"/>
                <a:chExt cx="1428900" cy="381000"/>
              </a:xfrm>
            </p:grpSpPr>
            <p:sp>
              <p:nvSpPr>
                <p:cNvPr id="97" name="Google Shape;97;p15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" name="Google Shape;98;p15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TN SKILL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</p:grpSp>
      <p:grpSp>
        <p:nvGrpSpPr>
          <p:cNvPr id="99" name="Google Shape;99;p15"/>
          <p:cNvGrpSpPr/>
          <p:nvPr/>
        </p:nvGrpSpPr>
        <p:grpSpPr>
          <a:xfrm>
            <a:off x="457200" y="952500"/>
            <a:ext cx="8229600" cy="476400"/>
            <a:chOff x="0" y="0"/>
            <a:chExt cx="8229600" cy="476400"/>
          </a:xfrm>
        </p:grpSpPr>
        <p:sp>
          <p:nvSpPr>
            <p:cNvPr id="100" name="Google Shape;100;p15"/>
            <p:cNvSpPr/>
            <p:nvPr/>
          </p:nvSpPr>
          <p:spPr>
            <a:xfrm>
              <a:off x="0" y="0"/>
              <a:ext cx="76200" cy="30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228600" y="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2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Problem Statement</a:t>
              </a:r>
              <a:endParaRPr b="1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2" name="Google Shape;102;p15"/>
          <p:cNvGrpSpPr/>
          <p:nvPr/>
        </p:nvGrpSpPr>
        <p:grpSpPr>
          <a:xfrm>
            <a:off x="457200" y="1714500"/>
            <a:ext cx="8229600" cy="3048000"/>
            <a:chOff x="0" y="0"/>
            <a:chExt cx="8229600" cy="3048000"/>
          </a:xfrm>
        </p:grpSpPr>
        <p:grpSp>
          <p:nvGrpSpPr>
            <p:cNvPr id="103" name="Google Shape;103;p15"/>
            <p:cNvGrpSpPr/>
            <p:nvPr/>
          </p:nvGrpSpPr>
          <p:grpSpPr>
            <a:xfrm>
              <a:off x="0" y="0"/>
              <a:ext cx="2514600" cy="3048000"/>
              <a:chOff x="0" y="0"/>
              <a:chExt cx="2514600" cy="3048000"/>
            </a:xfrm>
          </p:grpSpPr>
          <p:sp>
            <p:nvSpPr>
              <p:cNvPr id="104" name="Google Shape;104;p15"/>
              <p:cNvSpPr/>
              <p:nvPr/>
            </p:nvSpPr>
            <p:spPr>
              <a:xfrm>
                <a:off x="0" y="0"/>
                <a:ext cx="2514600" cy="381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5"/>
              <p:cNvSpPr txBox="1"/>
              <p:nvPr/>
            </p:nvSpPr>
            <p:spPr>
              <a:xfrm>
                <a:off x="0" y="190500"/>
                <a:ext cx="25146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Traditional Cane Limitations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Cannot detect knee-level or head-level obstructions.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6" name="Google Shape;106;p15"/>
            <p:cNvGrpSpPr/>
            <p:nvPr/>
          </p:nvGrpSpPr>
          <p:grpSpPr>
            <a:xfrm>
              <a:off x="2857500" y="0"/>
              <a:ext cx="2514600" cy="3048000"/>
              <a:chOff x="0" y="0"/>
              <a:chExt cx="2514600" cy="3048000"/>
            </a:xfrm>
          </p:grpSpPr>
          <p:sp>
            <p:nvSpPr>
              <p:cNvPr id="107" name="Google Shape;107;p15"/>
              <p:cNvSpPr/>
              <p:nvPr/>
            </p:nvSpPr>
            <p:spPr>
              <a:xfrm>
                <a:off x="0" y="0"/>
                <a:ext cx="2514600" cy="381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5"/>
              <p:cNvSpPr txBox="1"/>
              <p:nvPr/>
            </p:nvSpPr>
            <p:spPr>
              <a:xfrm>
                <a:off x="0" y="190500"/>
                <a:ext cx="25146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Terrain Hazards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Fails to anticipate sudden drop-offs and deep potholes.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9" name="Google Shape;109;p15"/>
            <p:cNvGrpSpPr/>
            <p:nvPr/>
          </p:nvGrpSpPr>
          <p:grpSpPr>
            <a:xfrm>
              <a:off x="5715000" y="0"/>
              <a:ext cx="2514600" cy="3048000"/>
              <a:chOff x="0" y="0"/>
              <a:chExt cx="2514600" cy="3048000"/>
            </a:xfrm>
          </p:grpSpPr>
          <p:sp>
            <p:nvSpPr>
              <p:cNvPr id="110" name="Google Shape;110;p15"/>
              <p:cNvSpPr/>
              <p:nvPr/>
            </p:nvSpPr>
            <p:spPr>
              <a:xfrm>
                <a:off x="0" y="0"/>
                <a:ext cx="2514600" cy="381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5"/>
              <p:cNvSpPr txBox="1"/>
              <p:nvPr/>
            </p:nvSpPr>
            <p:spPr>
              <a:xfrm>
                <a:off x="0" y="190500"/>
                <a:ext cx="25146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Environmental Risks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No detection for toxic gas leaks or low-visibility nighttime hazards.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6"/>
          <p:cNvGrpSpPr/>
          <p:nvPr/>
        </p:nvGrpSpPr>
        <p:grpSpPr>
          <a:xfrm>
            <a:off x="0" y="0"/>
            <a:ext cx="9144000" cy="666900"/>
            <a:chOff x="0" y="0"/>
            <a:chExt cx="9144000" cy="666900"/>
          </a:xfrm>
        </p:grpSpPr>
        <p:sp>
          <p:nvSpPr>
            <p:cNvPr id="117" name="Google Shape;117;p16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8" name="Google Shape;118;p16"/>
            <p:cNvCxnSpPr/>
            <p:nvPr/>
          </p:nvCxnSpPr>
          <p:spPr>
            <a:xfrm>
              <a:off x="0" y="66675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9" name="Google Shape;119;p16"/>
            <p:cNvGrpSpPr/>
            <p:nvPr/>
          </p:nvGrpSpPr>
          <p:grpSpPr>
            <a:xfrm>
              <a:off x="333375" y="142875"/>
              <a:ext cx="1428900" cy="381000"/>
              <a:chOff x="0" y="0"/>
              <a:chExt cx="1428900" cy="381000"/>
            </a:xfrm>
          </p:grpSpPr>
          <p:sp>
            <p:nvSpPr>
              <p:cNvPr id="120" name="Google Shape;120;p16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6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TIDCO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22" name="Google Shape;122;p16"/>
            <p:cNvGrpSpPr/>
            <p:nvPr/>
          </p:nvGrpSpPr>
          <p:grpSpPr>
            <a:xfrm>
              <a:off x="2095500" y="142875"/>
              <a:ext cx="1428900" cy="381000"/>
              <a:chOff x="0" y="0"/>
              <a:chExt cx="1428900" cy="381000"/>
            </a:xfrm>
          </p:grpSpPr>
          <p:sp>
            <p:nvSpPr>
              <p:cNvPr id="123" name="Google Shape;123;p16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6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TANSAM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25" name="Google Shape;125;p16"/>
            <p:cNvGrpSpPr/>
            <p:nvPr/>
          </p:nvGrpSpPr>
          <p:grpSpPr>
            <a:xfrm>
              <a:off x="3857625" y="142875"/>
              <a:ext cx="1428900" cy="381000"/>
              <a:chOff x="0" y="0"/>
              <a:chExt cx="1428900" cy="381000"/>
            </a:xfrm>
          </p:grpSpPr>
          <p:sp>
            <p:nvSpPr>
              <p:cNvPr id="126" name="Google Shape;126;p16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6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GOVT OF TN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28" name="Google Shape;128;p16"/>
            <p:cNvGrpSpPr/>
            <p:nvPr/>
          </p:nvGrpSpPr>
          <p:grpSpPr>
            <a:xfrm>
              <a:off x="5619750" y="142875"/>
              <a:ext cx="1428900" cy="381000"/>
              <a:chOff x="0" y="0"/>
              <a:chExt cx="1428900" cy="381000"/>
            </a:xfrm>
          </p:grpSpPr>
          <p:sp>
            <p:nvSpPr>
              <p:cNvPr id="129" name="Google Shape;129;p16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6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SIEMENS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31" name="Google Shape;131;p16"/>
            <p:cNvGrpSpPr/>
            <p:nvPr/>
          </p:nvGrpSpPr>
          <p:grpSpPr>
            <a:xfrm>
              <a:off x="7381875" y="142875"/>
              <a:ext cx="1428900" cy="381000"/>
              <a:chOff x="0" y="0"/>
              <a:chExt cx="1428900" cy="381000"/>
            </a:xfrm>
          </p:grpSpPr>
          <p:sp>
            <p:nvSpPr>
              <p:cNvPr id="132" name="Google Shape;132;p16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6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TN SKILL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134" name="Google Shape;134;p16"/>
          <p:cNvGrpSpPr/>
          <p:nvPr/>
        </p:nvGrpSpPr>
        <p:grpSpPr>
          <a:xfrm>
            <a:off x="457200" y="952500"/>
            <a:ext cx="8229600" cy="476400"/>
            <a:chOff x="0" y="0"/>
            <a:chExt cx="8229600" cy="476400"/>
          </a:xfrm>
        </p:grpSpPr>
        <p:sp>
          <p:nvSpPr>
            <p:cNvPr id="135" name="Google Shape;135;p16"/>
            <p:cNvSpPr/>
            <p:nvPr/>
          </p:nvSpPr>
          <p:spPr>
            <a:xfrm>
              <a:off x="0" y="0"/>
              <a:ext cx="76200" cy="30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228600" y="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2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Objective</a:t>
              </a:r>
              <a:endParaRPr b="1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457200" y="1714500"/>
            <a:ext cx="8229600" cy="2857500"/>
            <a:chOff x="0" y="0"/>
            <a:chExt cx="8229600" cy="2857500"/>
          </a:xfrm>
        </p:grpSpPr>
        <p:sp>
          <p:nvSpPr>
            <p:cNvPr id="138" name="Google Shape;138;p16"/>
            <p:cNvSpPr txBox="1"/>
            <p:nvPr/>
          </p:nvSpPr>
          <p:spPr>
            <a:xfrm>
              <a:off x="0" y="0"/>
              <a:ext cx="3962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Core Goal</a:t>
              </a:r>
              <a:endParaRPr b="0" sz="180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600"/>
                </a:spcAft>
                <a:buSzPts val="1400"/>
                <a:buChar char="●"/>
              </a:pPr>
              <a:r>
                <a:rPr b="0" lang="en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Develop an ESP32-based multi-hazard smart assistive aid.</a:t>
              </a:r>
              <a:endParaRPr b="0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4267200" y="0"/>
              <a:ext cx="39624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Feedback Mechanism</a:t>
              </a:r>
              <a:endParaRPr b="0" sz="1800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-317500" lvl="0" marL="457200" rtl="0" algn="l">
                <a:spcBef>
                  <a:spcPts val="750"/>
                </a:spcBef>
                <a:spcAft>
                  <a:spcPts val="600"/>
                </a:spcAft>
                <a:buSzPts val="1400"/>
                <a:buChar char="●"/>
              </a:pPr>
              <a:r>
                <a:rPr b="0" lang="en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Provide real-time tactile and audio alerts to enhance spatial awareness and user safety.</a:t>
              </a:r>
              <a:endParaRPr b="0" sz="14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45" name="Google Shape;145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" name="Google Shape;146;p17"/>
            <p:cNvGrpSpPr/>
            <p:nvPr/>
          </p:nvGrpSpPr>
          <p:grpSpPr>
            <a:xfrm>
              <a:off x="0" y="0"/>
              <a:ext cx="9144000" cy="666900"/>
              <a:chOff x="0" y="0"/>
              <a:chExt cx="9144000" cy="666900"/>
            </a:xfrm>
          </p:grpSpPr>
          <p:sp>
            <p:nvSpPr>
              <p:cNvPr id="147" name="Google Shape;147;p17"/>
              <p:cNvSpPr/>
              <p:nvPr/>
            </p:nvSpPr>
            <p:spPr>
              <a:xfrm>
                <a:off x="0" y="0"/>
                <a:ext cx="9144000" cy="666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8" name="Google Shape;148;p17"/>
              <p:cNvCxnSpPr/>
              <p:nvPr/>
            </p:nvCxnSpPr>
            <p:spPr>
              <a:xfrm>
                <a:off x="0" y="666750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49" name="Google Shape;149;p17"/>
              <p:cNvGrpSpPr/>
              <p:nvPr/>
            </p:nvGrpSpPr>
            <p:grpSpPr>
              <a:xfrm>
                <a:off x="333375" y="142875"/>
                <a:ext cx="1428900" cy="381000"/>
                <a:chOff x="0" y="0"/>
                <a:chExt cx="1428900" cy="381000"/>
              </a:xfrm>
            </p:grpSpPr>
            <p:sp>
              <p:nvSpPr>
                <p:cNvPr id="150" name="Google Shape;150;p17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" name="Google Shape;151;p17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TIDCO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152" name="Google Shape;152;p17"/>
              <p:cNvGrpSpPr/>
              <p:nvPr/>
            </p:nvGrpSpPr>
            <p:grpSpPr>
              <a:xfrm>
                <a:off x="2095500" y="142875"/>
                <a:ext cx="1428900" cy="381000"/>
                <a:chOff x="0" y="0"/>
                <a:chExt cx="1428900" cy="381000"/>
              </a:xfrm>
            </p:grpSpPr>
            <p:sp>
              <p:nvSpPr>
                <p:cNvPr id="153" name="Google Shape;153;p17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4" name="Google Shape;154;p17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TANSAM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155" name="Google Shape;155;p17"/>
              <p:cNvGrpSpPr/>
              <p:nvPr/>
            </p:nvGrpSpPr>
            <p:grpSpPr>
              <a:xfrm>
                <a:off x="3857625" y="142875"/>
                <a:ext cx="1428900" cy="381000"/>
                <a:chOff x="0" y="0"/>
                <a:chExt cx="1428900" cy="381000"/>
              </a:xfrm>
            </p:grpSpPr>
            <p:sp>
              <p:nvSpPr>
                <p:cNvPr id="156" name="Google Shape;156;p17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" name="Google Shape;157;p17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GOVT OF TN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158" name="Google Shape;158;p17"/>
              <p:cNvGrpSpPr/>
              <p:nvPr/>
            </p:nvGrpSpPr>
            <p:grpSpPr>
              <a:xfrm>
                <a:off x="5619750" y="142875"/>
                <a:ext cx="1428900" cy="381000"/>
                <a:chOff x="0" y="0"/>
                <a:chExt cx="1428900" cy="381000"/>
              </a:xfrm>
            </p:grpSpPr>
            <p:sp>
              <p:nvSpPr>
                <p:cNvPr id="159" name="Google Shape;159;p17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" name="Google Shape;160;p17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SIEMENS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161" name="Google Shape;161;p17"/>
              <p:cNvGrpSpPr/>
              <p:nvPr/>
            </p:nvGrpSpPr>
            <p:grpSpPr>
              <a:xfrm>
                <a:off x="7381875" y="142875"/>
                <a:ext cx="1428900" cy="381000"/>
                <a:chOff x="0" y="0"/>
                <a:chExt cx="1428900" cy="381000"/>
              </a:xfrm>
            </p:grpSpPr>
            <p:sp>
              <p:nvSpPr>
                <p:cNvPr id="162" name="Google Shape;162;p17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" name="Google Shape;163;p17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TN SKILL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</p:grpSp>
      <p:grpSp>
        <p:nvGrpSpPr>
          <p:cNvPr id="164" name="Google Shape;164;p17"/>
          <p:cNvGrpSpPr/>
          <p:nvPr/>
        </p:nvGrpSpPr>
        <p:grpSpPr>
          <a:xfrm>
            <a:off x="457200" y="952500"/>
            <a:ext cx="8229600" cy="476400"/>
            <a:chOff x="0" y="0"/>
            <a:chExt cx="8229600" cy="476400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0"/>
              <a:ext cx="76200" cy="30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228600" y="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2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Hardware Components</a:t>
              </a:r>
              <a:endParaRPr b="1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7" name="Google Shape;167;p17"/>
          <p:cNvGrpSpPr/>
          <p:nvPr/>
        </p:nvGrpSpPr>
        <p:grpSpPr>
          <a:xfrm>
            <a:off x="457200" y="1714500"/>
            <a:ext cx="8229600" cy="2514600"/>
            <a:chOff x="0" y="0"/>
            <a:chExt cx="8229600" cy="2514600"/>
          </a:xfrm>
        </p:grpSpPr>
        <p:grpSp>
          <p:nvGrpSpPr>
            <p:cNvPr id="168" name="Google Shape;168;p17"/>
            <p:cNvGrpSpPr/>
            <p:nvPr/>
          </p:nvGrpSpPr>
          <p:grpSpPr>
            <a:xfrm>
              <a:off x="0" y="0"/>
              <a:ext cx="2514600" cy="1143000"/>
              <a:chOff x="0" y="0"/>
              <a:chExt cx="2514600" cy="1143000"/>
            </a:xfrm>
          </p:grpSpPr>
          <p:sp>
            <p:nvSpPr>
              <p:cNvPr id="169" name="Google Shape;169;p17"/>
              <p:cNvSpPr/>
              <p:nvPr/>
            </p:nvSpPr>
            <p:spPr>
              <a:xfrm>
                <a:off x="0" y="0"/>
                <a:ext cx="2514600" cy="1143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7"/>
              <p:cNvSpPr txBox="1"/>
              <p:nvPr/>
            </p:nvSpPr>
            <p:spPr>
              <a:xfrm>
                <a:off x="152400" y="152400"/>
                <a:ext cx="22098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Microcontroller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ESP32 NodeMCU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1" name="Google Shape;171;p17"/>
            <p:cNvGrpSpPr/>
            <p:nvPr/>
          </p:nvGrpSpPr>
          <p:grpSpPr>
            <a:xfrm>
              <a:off x="2857500" y="0"/>
              <a:ext cx="2514600" cy="1143000"/>
              <a:chOff x="0" y="0"/>
              <a:chExt cx="2514600" cy="1143000"/>
            </a:xfrm>
          </p:grpSpPr>
          <p:sp>
            <p:nvSpPr>
              <p:cNvPr id="172" name="Google Shape;172;p17"/>
              <p:cNvSpPr/>
              <p:nvPr/>
            </p:nvSpPr>
            <p:spPr>
              <a:xfrm>
                <a:off x="0" y="0"/>
                <a:ext cx="2514600" cy="1143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7"/>
              <p:cNvSpPr txBox="1"/>
              <p:nvPr/>
            </p:nvSpPr>
            <p:spPr>
              <a:xfrm>
                <a:off x="152400" y="152400"/>
                <a:ext cx="22098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Distance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HC-SR04 Ultrasonic Sensor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4" name="Google Shape;174;p17"/>
            <p:cNvGrpSpPr/>
            <p:nvPr/>
          </p:nvGrpSpPr>
          <p:grpSpPr>
            <a:xfrm>
              <a:off x="5715000" y="0"/>
              <a:ext cx="2514600" cy="1143000"/>
              <a:chOff x="0" y="0"/>
              <a:chExt cx="2514600" cy="1143000"/>
            </a:xfrm>
          </p:grpSpPr>
          <p:sp>
            <p:nvSpPr>
              <p:cNvPr id="175" name="Google Shape;175;p17"/>
              <p:cNvSpPr/>
              <p:nvPr/>
            </p:nvSpPr>
            <p:spPr>
              <a:xfrm>
                <a:off x="0" y="0"/>
                <a:ext cx="2514600" cy="1143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7"/>
              <p:cNvSpPr txBox="1"/>
              <p:nvPr/>
            </p:nvSpPr>
            <p:spPr>
              <a:xfrm>
                <a:off x="152400" y="152400"/>
                <a:ext cx="22098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Drop Detection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IR Sensor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77" name="Google Shape;177;p17"/>
            <p:cNvGrpSpPr/>
            <p:nvPr/>
          </p:nvGrpSpPr>
          <p:grpSpPr>
            <a:xfrm>
              <a:off x="0" y="1371600"/>
              <a:ext cx="2514600" cy="1143000"/>
              <a:chOff x="0" y="0"/>
              <a:chExt cx="2514600" cy="1143000"/>
            </a:xfrm>
          </p:grpSpPr>
          <p:sp>
            <p:nvSpPr>
              <p:cNvPr id="178" name="Google Shape;178;p17"/>
              <p:cNvSpPr/>
              <p:nvPr/>
            </p:nvSpPr>
            <p:spPr>
              <a:xfrm>
                <a:off x="0" y="0"/>
                <a:ext cx="2514600" cy="1143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17"/>
              <p:cNvSpPr txBox="1"/>
              <p:nvPr/>
            </p:nvSpPr>
            <p:spPr>
              <a:xfrm>
                <a:off x="152400" y="152400"/>
                <a:ext cx="22098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Environmental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MQ Gas Sensor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0" name="Google Shape;180;p17"/>
            <p:cNvGrpSpPr/>
            <p:nvPr/>
          </p:nvGrpSpPr>
          <p:grpSpPr>
            <a:xfrm>
              <a:off x="2857500" y="1371600"/>
              <a:ext cx="2514600" cy="1143000"/>
              <a:chOff x="0" y="0"/>
              <a:chExt cx="2514600" cy="1143000"/>
            </a:xfrm>
          </p:grpSpPr>
          <p:sp>
            <p:nvSpPr>
              <p:cNvPr id="181" name="Google Shape;181;p17"/>
              <p:cNvSpPr/>
              <p:nvPr/>
            </p:nvSpPr>
            <p:spPr>
              <a:xfrm>
                <a:off x="0" y="0"/>
                <a:ext cx="2514600" cy="1143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7"/>
              <p:cNvSpPr txBox="1"/>
              <p:nvPr/>
            </p:nvSpPr>
            <p:spPr>
              <a:xfrm>
                <a:off x="152400" y="152400"/>
                <a:ext cx="22098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Tactile Actuator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SG90 Servo Motor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3" name="Google Shape;183;p17"/>
            <p:cNvGrpSpPr/>
            <p:nvPr/>
          </p:nvGrpSpPr>
          <p:grpSpPr>
            <a:xfrm>
              <a:off x="5715000" y="1371600"/>
              <a:ext cx="2514600" cy="1143000"/>
              <a:chOff x="0" y="0"/>
              <a:chExt cx="2514600" cy="11430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0" y="0"/>
                <a:ext cx="2514600" cy="1143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17"/>
              <p:cNvSpPr txBox="1"/>
              <p:nvPr/>
            </p:nvSpPr>
            <p:spPr>
              <a:xfrm>
                <a:off x="152400" y="152400"/>
                <a:ext cx="22098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Alerts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Piezo Buzzer &amp; High-Intensity LED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18"/>
          <p:cNvGrpSpPr/>
          <p:nvPr/>
        </p:nvGrpSpPr>
        <p:grpSpPr>
          <a:xfrm>
            <a:off x="0" y="0"/>
            <a:ext cx="9144000" cy="666900"/>
            <a:chOff x="0" y="0"/>
            <a:chExt cx="9144000" cy="666900"/>
          </a:xfrm>
        </p:grpSpPr>
        <p:sp>
          <p:nvSpPr>
            <p:cNvPr id="192" name="Google Shape;192;p18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3" name="Google Shape;193;p18"/>
            <p:cNvCxnSpPr/>
            <p:nvPr/>
          </p:nvCxnSpPr>
          <p:spPr>
            <a:xfrm>
              <a:off x="0" y="66675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94" name="Google Shape;194;p18"/>
            <p:cNvGrpSpPr/>
            <p:nvPr/>
          </p:nvGrpSpPr>
          <p:grpSpPr>
            <a:xfrm>
              <a:off x="333375" y="142875"/>
              <a:ext cx="1428900" cy="381000"/>
              <a:chOff x="0" y="0"/>
              <a:chExt cx="1428900" cy="381000"/>
            </a:xfrm>
          </p:grpSpPr>
          <p:sp>
            <p:nvSpPr>
              <p:cNvPr id="195" name="Google Shape;195;p18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8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TIDCO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97" name="Google Shape;197;p18"/>
            <p:cNvGrpSpPr/>
            <p:nvPr/>
          </p:nvGrpSpPr>
          <p:grpSpPr>
            <a:xfrm>
              <a:off x="2095500" y="142875"/>
              <a:ext cx="1428900" cy="381000"/>
              <a:chOff x="0" y="0"/>
              <a:chExt cx="1428900" cy="381000"/>
            </a:xfrm>
          </p:grpSpPr>
          <p:sp>
            <p:nvSpPr>
              <p:cNvPr id="198" name="Google Shape;198;p18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18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TANSAM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00" name="Google Shape;200;p18"/>
            <p:cNvGrpSpPr/>
            <p:nvPr/>
          </p:nvGrpSpPr>
          <p:grpSpPr>
            <a:xfrm>
              <a:off x="3857625" y="142875"/>
              <a:ext cx="1428900" cy="381000"/>
              <a:chOff x="0" y="0"/>
              <a:chExt cx="1428900" cy="381000"/>
            </a:xfrm>
          </p:grpSpPr>
          <p:sp>
            <p:nvSpPr>
              <p:cNvPr id="201" name="Google Shape;201;p18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8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GOVT OF TN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03" name="Google Shape;203;p18"/>
            <p:cNvGrpSpPr/>
            <p:nvPr/>
          </p:nvGrpSpPr>
          <p:grpSpPr>
            <a:xfrm>
              <a:off x="5619750" y="142875"/>
              <a:ext cx="1428900" cy="381000"/>
              <a:chOff x="0" y="0"/>
              <a:chExt cx="1428900" cy="381000"/>
            </a:xfrm>
          </p:grpSpPr>
          <p:sp>
            <p:nvSpPr>
              <p:cNvPr id="204" name="Google Shape;204;p18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8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SIEMENS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206" name="Google Shape;206;p18"/>
            <p:cNvGrpSpPr/>
            <p:nvPr/>
          </p:nvGrpSpPr>
          <p:grpSpPr>
            <a:xfrm>
              <a:off x="7381875" y="142875"/>
              <a:ext cx="1428900" cy="381000"/>
              <a:chOff x="0" y="0"/>
              <a:chExt cx="1428900" cy="381000"/>
            </a:xfrm>
          </p:grpSpPr>
          <p:sp>
            <p:nvSpPr>
              <p:cNvPr id="207" name="Google Shape;207;p18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8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TN SKILL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209" name="Google Shape;209;p18"/>
          <p:cNvGrpSpPr/>
          <p:nvPr/>
        </p:nvGrpSpPr>
        <p:grpSpPr>
          <a:xfrm>
            <a:off x="457200" y="952500"/>
            <a:ext cx="8229600" cy="381000"/>
            <a:chOff x="0" y="0"/>
            <a:chExt cx="8229600" cy="381000"/>
          </a:xfrm>
        </p:grpSpPr>
        <p:sp>
          <p:nvSpPr>
            <p:cNvPr id="210" name="Google Shape;210;p18"/>
            <p:cNvSpPr/>
            <p:nvPr/>
          </p:nvSpPr>
          <p:spPr>
            <a:xfrm>
              <a:off x="0" y="0"/>
              <a:ext cx="76200" cy="30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8"/>
            <p:cNvSpPr txBox="1"/>
            <p:nvPr/>
          </p:nvSpPr>
          <p:spPr>
            <a:xfrm>
              <a:off x="228600" y="0"/>
              <a:ext cx="800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5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Circuit Diagram</a:t>
              </a:r>
              <a:endParaRPr b="1" i="0" sz="2405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12" name="Google Shape;212;p18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1333500" y="1476375"/>
            <a:ext cx="6477000" cy="36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16753"/>
            <a:ext cx="9144001" cy="345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19" name="Google Shape;219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0" name="Google Shape;220;p19"/>
            <p:cNvGrpSpPr/>
            <p:nvPr/>
          </p:nvGrpSpPr>
          <p:grpSpPr>
            <a:xfrm>
              <a:off x="0" y="0"/>
              <a:ext cx="9144000" cy="666900"/>
              <a:chOff x="0" y="0"/>
              <a:chExt cx="9144000" cy="666900"/>
            </a:xfrm>
          </p:grpSpPr>
          <p:sp>
            <p:nvSpPr>
              <p:cNvPr id="221" name="Google Shape;221;p19"/>
              <p:cNvSpPr/>
              <p:nvPr/>
            </p:nvSpPr>
            <p:spPr>
              <a:xfrm>
                <a:off x="0" y="0"/>
                <a:ext cx="9144000" cy="666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2" name="Google Shape;222;p19"/>
              <p:cNvCxnSpPr/>
              <p:nvPr/>
            </p:nvCxnSpPr>
            <p:spPr>
              <a:xfrm>
                <a:off x="0" y="666750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23" name="Google Shape;223;p19"/>
              <p:cNvGrpSpPr/>
              <p:nvPr/>
            </p:nvGrpSpPr>
            <p:grpSpPr>
              <a:xfrm>
                <a:off x="333375" y="142875"/>
                <a:ext cx="1428900" cy="381000"/>
                <a:chOff x="0" y="0"/>
                <a:chExt cx="1428900" cy="381000"/>
              </a:xfrm>
            </p:grpSpPr>
            <p:sp>
              <p:nvSpPr>
                <p:cNvPr id="224" name="Google Shape;224;p19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" name="Google Shape;225;p19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TIDCO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226" name="Google Shape;226;p19"/>
              <p:cNvGrpSpPr/>
              <p:nvPr/>
            </p:nvGrpSpPr>
            <p:grpSpPr>
              <a:xfrm>
                <a:off x="2095500" y="142875"/>
                <a:ext cx="1428900" cy="381000"/>
                <a:chOff x="0" y="0"/>
                <a:chExt cx="1428900" cy="381000"/>
              </a:xfrm>
            </p:grpSpPr>
            <p:sp>
              <p:nvSpPr>
                <p:cNvPr id="227" name="Google Shape;227;p19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" name="Google Shape;228;p19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TANSAM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229" name="Google Shape;229;p19"/>
              <p:cNvGrpSpPr/>
              <p:nvPr/>
            </p:nvGrpSpPr>
            <p:grpSpPr>
              <a:xfrm>
                <a:off x="3857625" y="142875"/>
                <a:ext cx="1428900" cy="381000"/>
                <a:chOff x="0" y="0"/>
                <a:chExt cx="1428900" cy="381000"/>
              </a:xfrm>
            </p:grpSpPr>
            <p:sp>
              <p:nvSpPr>
                <p:cNvPr id="230" name="Google Shape;230;p19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" name="Google Shape;231;p19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GOVT OF TN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232" name="Google Shape;232;p19"/>
              <p:cNvGrpSpPr/>
              <p:nvPr/>
            </p:nvGrpSpPr>
            <p:grpSpPr>
              <a:xfrm>
                <a:off x="5619750" y="142875"/>
                <a:ext cx="1428900" cy="381000"/>
                <a:chOff x="0" y="0"/>
                <a:chExt cx="1428900" cy="381000"/>
              </a:xfrm>
            </p:grpSpPr>
            <p:sp>
              <p:nvSpPr>
                <p:cNvPr id="233" name="Google Shape;233;p19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" name="Google Shape;234;p19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SIEMENS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235" name="Google Shape;235;p19"/>
              <p:cNvGrpSpPr/>
              <p:nvPr/>
            </p:nvGrpSpPr>
            <p:grpSpPr>
              <a:xfrm>
                <a:off x="7381875" y="142875"/>
                <a:ext cx="1428900" cy="381000"/>
                <a:chOff x="0" y="0"/>
                <a:chExt cx="1428900" cy="381000"/>
              </a:xfrm>
            </p:grpSpPr>
            <p:sp>
              <p:nvSpPr>
                <p:cNvPr id="236" name="Google Shape;236;p19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" name="Google Shape;237;p19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TN SKILL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</p:grpSp>
      <p:grpSp>
        <p:nvGrpSpPr>
          <p:cNvPr id="238" name="Google Shape;238;p19"/>
          <p:cNvGrpSpPr/>
          <p:nvPr/>
        </p:nvGrpSpPr>
        <p:grpSpPr>
          <a:xfrm>
            <a:off x="457200" y="952500"/>
            <a:ext cx="8229600" cy="476400"/>
            <a:chOff x="0" y="0"/>
            <a:chExt cx="8229600" cy="476400"/>
          </a:xfrm>
        </p:grpSpPr>
        <p:sp>
          <p:nvSpPr>
            <p:cNvPr id="239" name="Google Shape;239;p19"/>
            <p:cNvSpPr/>
            <p:nvPr/>
          </p:nvSpPr>
          <p:spPr>
            <a:xfrm>
              <a:off x="0" y="0"/>
              <a:ext cx="76200" cy="30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 txBox="1"/>
            <p:nvPr/>
          </p:nvSpPr>
          <p:spPr>
            <a:xfrm>
              <a:off x="228600" y="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2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Working Principle</a:t>
              </a:r>
              <a:endParaRPr b="1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1" name="Google Shape;241;p19"/>
          <p:cNvGrpSpPr/>
          <p:nvPr/>
        </p:nvGrpSpPr>
        <p:grpSpPr>
          <a:xfrm>
            <a:off x="457200" y="2095500"/>
            <a:ext cx="8458200" cy="1428900"/>
            <a:chOff x="0" y="0"/>
            <a:chExt cx="8458200" cy="1428900"/>
          </a:xfrm>
        </p:grpSpPr>
        <p:grpSp>
          <p:nvGrpSpPr>
            <p:cNvPr id="242" name="Google Shape;242;p19"/>
            <p:cNvGrpSpPr/>
            <p:nvPr/>
          </p:nvGrpSpPr>
          <p:grpSpPr>
            <a:xfrm>
              <a:off x="0" y="0"/>
              <a:ext cx="1828800" cy="1428900"/>
              <a:chOff x="0" y="0"/>
              <a:chExt cx="1828800" cy="1428900"/>
            </a:xfrm>
          </p:grpSpPr>
          <p:sp>
            <p:nvSpPr>
              <p:cNvPr id="243" name="Google Shape;243;p19"/>
              <p:cNvSpPr/>
              <p:nvPr/>
            </p:nvSpPr>
            <p:spPr>
              <a:xfrm>
                <a:off x="0" y="0"/>
                <a:ext cx="1828800" cy="1428900"/>
              </a:xfrm>
              <a:prstGeom prst="roundRect">
                <a:avLst>
                  <a:gd fmla="val 266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19"/>
              <p:cNvSpPr/>
              <p:nvPr/>
            </p:nvSpPr>
            <p:spPr>
              <a:xfrm>
                <a:off x="0" y="0"/>
                <a:ext cx="1828800" cy="38100"/>
              </a:xfrm>
              <a:prstGeom prst="rect">
                <a:avLst/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9"/>
              <p:cNvSpPr txBox="1"/>
              <p:nvPr/>
            </p:nvSpPr>
            <p:spPr>
              <a:xfrm>
                <a:off x="152400" y="190500"/>
                <a:ext cx="1524000" cy="112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Ultrasonic Ranging</a:t>
                </a:r>
                <a:endParaRPr b="0" sz="16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Detects forward obstacles in real-time.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46" name="Google Shape;246;p19"/>
            <p:cNvSpPr/>
            <p:nvPr/>
          </p:nvSpPr>
          <p:spPr>
            <a:xfrm>
              <a:off x="1924050" y="666750"/>
              <a:ext cx="1905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4000" y="0"/>
                  </a:moveTo>
                  <a:lnTo>
                    <a:pt x="120000" y="60000"/>
                  </a:lnTo>
                  <a:lnTo>
                    <a:pt x="84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7" name="Google Shape;247;p19"/>
            <p:cNvGrpSpPr/>
            <p:nvPr/>
          </p:nvGrpSpPr>
          <p:grpSpPr>
            <a:xfrm>
              <a:off x="2209800" y="0"/>
              <a:ext cx="1828800" cy="1428900"/>
              <a:chOff x="0" y="0"/>
              <a:chExt cx="1828800" cy="1428900"/>
            </a:xfrm>
          </p:grpSpPr>
          <p:sp>
            <p:nvSpPr>
              <p:cNvPr id="248" name="Google Shape;248;p19"/>
              <p:cNvSpPr/>
              <p:nvPr/>
            </p:nvSpPr>
            <p:spPr>
              <a:xfrm>
                <a:off x="0" y="0"/>
                <a:ext cx="1828800" cy="1428900"/>
              </a:xfrm>
              <a:prstGeom prst="roundRect">
                <a:avLst>
                  <a:gd fmla="val 266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9"/>
              <p:cNvSpPr/>
              <p:nvPr/>
            </p:nvSpPr>
            <p:spPr>
              <a:xfrm>
                <a:off x="0" y="0"/>
                <a:ext cx="1828800" cy="38100"/>
              </a:xfrm>
              <a:prstGeom prst="rect">
                <a:avLst/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9"/>
              <p:cNvSpPr txBox="1"/>
              <p:nvPr/>
            </p:nvSpPr>
            <p:spPr>
              <a:xfrm>
                <a:off x="152400" y="190500"/>
                <a:ext cx="1524000" cy="112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IR Drop Sensing</a:t>
                </a:r>
                <a:endParaRPr b="0" sz="16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Identifies staircases and potholes.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51" name="Google Shape;251;p19"/>
            <p:cNvSpPr/>
            <p:nvPr/>
          </p:nvSpPr>
          <p:spPr>
            <a:xfrm>
              <a:off x="4133850" y="666750"/>
              <a:ext cx="1905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4000" y="0"/>
                  </a:moveTo>
                  <a:lnTo>
                    <a:pt x="120000" y="60000"/>
                  </a:lnTo>
                  <a:lnTo>
                    <a:pt x="84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2" name="Google Shape;252;p19"/>
            <p:cNvGrpSpPr/>
            <p:nvPr/>
          </p:nvGrpSpPr>
          <p:grpSpPr>
            <a:xfrm>
              <a:off x="4419600" y="0"/>
              <a:ext cx="1828800" cy="1428900"/>
              <a:chOff x="0" y="0"/>
              <a:chExt cx="1828800" cy="1428900"/>
            </a:xfrm>
          </p:grpSpPr>
          <p:sp>
            <p:nvSpPr>
              <p:cNvPr id="253" name="Google Shape;253;p19"/>
              <p:cNvSpPr/>
              <p:nvPr/>
            </p:nvSpPr>
            <p:spPr>
              <a:xfrm>
                <a:off x="0" y="0"/>
                <a:ext cx="1828800" cy="1428900"/>
              </a:xfrm>
              <a:prstGeom prst="roundRect">
                <a:avLst>
                  <a:gd fmla="val 266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9"/>
              <p:cNvSpPr/>
              <p:nvPr/>
            </p:nvSpPr>
            <p:spPr>
              <a:xfrm>
                <a:off x="0" y="0"/>
                <a:ext cx="1828800" cy="38100"/>
              </a:xfrm>
              <a:prstGeom prst="rect">
                <a:avLst/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9"/>
              <p:cNvSpPr txBox="1"/>
              <p:nvPr/>
            </p:nvSpPr>
            <p:spPr>
              <a:xfrm>
                <a:off x="152400" y="190500"/>
                <a:ext cx="1524000" cy="112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Servo Actuation</a:t>
                </a:r>
                <a:endParaRPr b="0" sz="16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Delivers a 60° palm tap for silent tactile feedback.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56" name="Google Shape;256;p19"/>
            <p:cNvSpPr/>
            <p:nvPr/>
          </p:nvSpPr>
          <p:spPr>
            <a:xfrm>
              <a:off x="6343650" y="666750"/>
              <a:ext cx="1905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84000" y="0"/>
                  </a:moveTo>
                  <a:lnTo>
                    <a:pt x="120000" y="60000"/>
                  </a:lnTo>
                  <a:lnTo>
                    <a:pt x="84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7" name="Google Shape;257;p19"/>
            <p:cNvGrpSpPr/>
            <p:nvPr/>
          </p:nvGrpSpPr>
          <p:grpSpPr>
            <a:xfrm>
              <a:off x="6629400" y="0"/>
              <a:ext cx="1828800" cy="1428900"/>
              <a:chOff x="0" y="0"/>
              <a:chExt cx="1828800" cy="1428900"/>
            </a:xfrm>
          </p:grpSpPr>
          <p:sp>
            <p:nvSpPr>
              <p:cNvPr id="258" name="Google Shape;258;p19"/>
              <p:cNvSpPr/>
              <p:nvPr/>
            </p:nvSpPr>
            <p:spPr>
              <a:xfrm>
                <a:off x="0" y="0"/>
                <a:ext cx="1828800" cy="1428900"/>
              </a:xfrm>
              <a:prstGeom prst="roundRect">
                <a:avLst>
                  <a:gd fmla="val 266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9"/>
              <p:cNvSpPr/>
              <p:nvPr/>
            </p:nvSpPr>
            <p:spPr>
              <a:xfrm>
                <a:off x="0" y="0"/>
                <a:ext cx="1828800" cy="38100"/>
              </a:xfrm>
              <a:prstGeom prst="rect">
                <a:avLst/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9"/>
              <p:cNvSpPr txBox="1"/>
              <p:nvPr/>
            </p:nvSpPr>
            <p:spPr>
              <a:xfrm>
                <a:off x="152400" y="190500"/>
                <a:ext cx="1524000" cy="112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Illumination</a:t>
                </a:r>
                <a:endParaRPr b="0" sz="16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Automatic LED activation for nighttime visibility.</a:t>
                </a:r>
                <a:endParaRPr b="0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66" name="Google Shape;266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7" name="Google Shape;267;p20"/>
            <p:cNvGrpSpPr/>
            <p:nvPr/>
          </p:nvGrpSpPr>
          <p:grpSpPr>
            <a:xfrm>
              <a:off x="0" y="0"/>
              <a:ext cx="9144000" cy="666900"/>
              <a:chOff x="0" y="0"/>
              <a:chExt cx="9144000" cy="666900"/>
            </a:xfrm>
          </p:grpSpPr>
          <p:sp>
            <p:nvSpPr>
              <p:cNvPr id="268" name="Google Shape;268;p20"/>
              <p:cNvSpPr/>
              <p:nvPr/>
            </p:nvSpPr>
            <p:spPr>
              <a:xfrm>
                <a:off x="0" y="0"/>
                <a:ext cx="9144000" cy="666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69" name="Google Shape;269;p20"/>
              <p:cNvCxnSpPr/>
              <p:nvPr/>
            </p:nvCxnSpPr>
            <p:spPr>
              <a:xfrm>
                <a:off x="0" y="666750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70" name="Google Shape;270;p20"/>
              <p:cNvGrpSpPr/>
              <p:nvPr/>
            </p:nvGrpSpPr>
            <p:grpSpPr>
              <a:xfrm>
                <a:off x="333375" y="142875"/>
                <a:ext cx="1428900" cy="381000"/>
                <a:chOff x="0" y="0"/>
                <a:chExt cx="1428900" cy="381000"/>
              </a:xfrm>
            </p:grpSpPr>
            <p:sp>
              <p:nvSpPr>
                <p:cNvPr id="271" name="Google Shape;271;p20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20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TIDCO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273" name="Google Shape;273;p20"/>
              <p:cNvGrpSpPr/>
              <p:nvPr/>
            </p:nvGrpSpPr>
            <p:grpSpPr>
              <a:xfrm>
                <a:off x="2095500" y="142875"/>
                <a:ext cx="1428900" cy="381000"/>
                <a:chOff x="0" y="0"/>
                <a:chExt cx="1428900" cy="381000"/>
              </a:xfrm>
            </p:grpSpPr>
            <p:sp>
              <p:nvSpPr>
                <p:cNvPr id="274" name="Google Shape;274;p20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20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TANSAM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276" name="Google Shape;276;p20"/>
              <p:cNvGrpSpPr/>
              <p:nvPr/>
            </p:nvGrpSpPr>
            <p:grpSpPr>
              <a:xfrm>
                <a:off x="3857625" y="142875"/>
                <a:ext cx="1428900" cy="381000"/>
                <a:chOff x="0" y="0"/>
                <a:chExt cx="1428900" cy="381000"/>
              </a:xfrm>
            </p:grpSpPr>
            <p:sp>
              <p:nvSpPr>
                <p:cNvPr id="277" name="Google Shape;277;p20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20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GOVT OF TN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279" name="Google Shape;279;p20"/>
              <p:cNvGrpSpPr/>
              <p:nvPr/>
            </p:nvGrpSpPr>
            <p:grpSpPr>
              <a:xfrm>
                <a:off x="5619750" y="142875"/>
                <a:ext cx="1428900" cy="381000"/>
                <a:chOff x="0" y="0"/>
                <a:chExt cx="1428900" cy="381000"/>
              </a:xfrm>
            </p:grpSpPr>
            <p:sp>
              <p:nvSpPr>
                <p:cNvPr id="280" name="Google Shape;280;p20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20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SIEMENS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282" name="Google Shape;282;p20"/>
              <p:cNvGrpSpPr/>
              <p:nvPr/>
            </p:nvGrpSpPr>
            <p:grpSpPr>
              <a:xfrm>
                <a:off x="7381875" y="142875"/>
                <a:ext cx="1428900" cy="381000"/>
                <a:chOff x="0" y="0"/>
                <a:chExt cx="1428900" cy="381000"/>
              </a:xfrm>
            </p:grpSpPr>
            <p:sp>
              <p:nvSpPr>
                <p:cNvPr id="283" name="Google Shape;283;p20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20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TN SKILL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</p:grpSp>
      <p:grpSp>
        <p:nvGrpSpPr>
          <p:cNvPr id="285" name="Google Shape;285;p20"/>
          <p:cNvGrpSpPr/>
          <p:nvPr/>
        </p:nvGrpSpPr>
        <p:grpSpPr>
          <a:xfrm>
            <a:off x="457200" y="952500"/>
            <a:ext cx="8229600" cy="476400"/>
            <a:chOff x="0" y="0"/>
            <a:chExt cx="8229600" cy="476400"/>
          </a:xfrm>
        </p:grpSpPr>
        <p:sp>
          <p:nvSpPr>
            <p:cNvPr id="286" name="Google Shape;286;p20"/>
            <p:cNvSpPr/>
            <p:nvPr/>
          </p:nvSpPr>
          <p:spPr>
            <a:xfrm>
              <a:off x="0" y="0"/>
              <a:ext cx="76200" cy="30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0"/>
            <p:cNvSpPr txBox="1"/>
            <p:nvPr/>
          </p:nvSpPr>
          <p:spPr>
            <a:xfrm>
              <a:off x="228600" y="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2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Software Used</a:t>
              </a:r>
              <a:endParaRPr b="1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8" name="Google Shape;288;p20"/>
          <p:cNvGrpSpPr/>
          <p:nvPr/>
        </p:nvGrpSpPr>
        <p:grpSpPr>
          <a:xfrm>
            <a:off x="457200" y="1714500"/>
            <a:ext cx="8229600" cy="2514600"/>
            <a:chOff x="0" y="0"/>
            <a:chExt cx="8229600" cy="2514600"/>
          </a:xfrm>
        </p:grpSpPr>
        <p:grpSp>
          <p:nvGrpSpPr>
            <p:cNvPr id="289" name="Google Shape;289;p20"/>
            <p:cNvGrpSpPr/>
            <p:nvPr/>
          </p:nvGrpSpPr>
          <p:grpSpPr>
            <a:xfrm>
              <a:off x="0" y="0"/>
              <a:ext cx="3962400" cy="1143000"/>
              <a:chOff x="0" y="0"/>
              <a:chExt cx="3962400" cy="1143000"/>
            </a:xfrm>
          </p:grpSpPr>
          <p:sp>
            <p:nvSpPr>
              <p:cNvPr id="290" name="Google Shape;290;p20"/>
              <p:cNvSpPr/>
              <p:nvPr/>
            </p:nvSpPr>
            <p:spPr>
              <a:xfrm>
                <a:off x="0" y="0"/>
                <a:ext cx="3962400" cy="1143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0"/>
              <p:cNvSpPr/>
              <p:nvPr/>
            </p:nvSpPr>
            <p:spPr>
              <a:xfrm>
                <a:off x="0" y="0"/>
                <a:ext cx="76200" cy="1143000"/>
              </a:xfrm>
              <a:prstGeom prst="roundRect">
                <a:avLst>
                  <a:gd fmla="val 50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0"/>
              <p:cNvSpPr txBox="1"/>
              <p:nvPr/>
            </p:nvSpPr>
            <p:spPr>
              <a:xfrm>
                <a:off x="228600" y="228600"/>
                <a:ext cx="3581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IDE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Arduino IDE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3" name="Google Shape;293;p20"/>
            <p:cNvGrpSpPr/>
            <p:nvPr/>
          </p:nvGrpSpPr>
          <p:grpSpPr>
            <a:xfrm>
              <a:off x="4267200" y="0"/>
              <a:ext cx="3962400" cy="1143000"/>
              <a:chOff x="0" y="0"/>
              <a:chExt cx="3962400" cy="1143000"/>
            </a:xfrm>
          </p:grpSpPr>
          <p:sp>
            <p:nvSpPr>
              <p:cNvPr id="294" name="Google Shape;294;p20"/>
              <p:cNvSpPr/>
              <p:nvPr/>
            </p:nvSpPr>
            <p:spPr>
              <a:xfrm>
                <a:off x="0" y="0"/>
                <a:ext cx="3962400" cy="1143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0"/>
              <p:cNvSpPr/>
              <p:nvPr/>
            </p:nvSpPr>
            <p:spPr>
              <a:xfrm>
                <a:off x="0" y="0"/>
                <a:ext cx="76200" cy="1143000"/>
              </a:xfrm>
              <a:prstGeom prst="roundRect">
                <a:avLst>
                  <a:gd fmla="val 50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0"/>
              <p:cNvSpPr txBox="1"/>
              <p:nvPr/>
            </p:nvSpPr>
            <p:spPr>
              <a:xfrm>
                <a:off x="228600" y="228600"/>
                <a:ext cx="3581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Language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Embedded C++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97" name="Google Shape;297;p20"/>
            <p:cNvGrpSpPr/>
            <p:nvPr/>
          </p:nvGrpSpPr>
          <p:grpSpPr>
            <a:xfrm>
              <a:off x="0" y="1371600"/>
              <a:ext cx="3962400" cy="1143000"/>
              <a:chOff x="0" y="0"/>
              <a:chExt cx="3962400" cy="1143000"/>
            </a:xfrm>
          </p:grpSpPr>
          <p:sp>
            <p:nvSpPr>
              <p:cNvPr id="298" name="Google Shape;298;p20"/>
              <p:cNvSpPr/>
              <p:nvPr/>
            </p:nvSpPr>
            <p:spPr>
              <a:xfrm>
                <a:off x="0" y="0"/>
                <a:ext cx="3962400" cy="1143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0"/>
              <p:cNvSpPr/>
              <p:nvPr/>
            </p:nvSpPr>
            <p:spPr>
              <a:xfrm>
                <a:off x="0" y="0"/>
                <a:ext cx="76200" cy="1143000"/>
              </a:xfrm>
              <a:prstGeom prst="roundRect">
                <a:avLst>
                  <a:gd fmla="val 50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20"/>
              <p:cNvSpPr txBox="1"/>
              <p:nvPr/>
            </p:nvSpPr>
            <p:spPr>
              <a:xfrm>
                <a:off x="228600" y="228600"/>
                <a:ext cx="3581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Dependencies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Standard ESP32 libraries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01" name="Google Shape;301;p20"/>
            <p:cNvGrpSpPr/>
            <p:nvPr/>
          </p:nvGrpSpPr>
          <p:grpSpPr>
            <a:xfrm>
              <a:off x="4267200" y="1371600"/>
              <a:ext cx="3962400" cy="1143000"/>
              <a:chOff x="0" y="0"/>
              <a:chExt cx="3962400" cy="1143000"/>
            </a:xfrm>
          </p:grpSpPr>
          <p:sp>
            <p:nvSpPr>
              <p:cNvPr id="302" name="Google Shape;302;p20"/>
              <p:cNvSpPr/>
              <p:nvPr/>
            </p:nvSpPr>
            <p:spPr>
              <a:xfrm>
                <a:off x="0" y="0"/>
                <a:ext cx="3962400" cy="1143000"/>
              </a:xfrm>
              <a:prstGeom prst="roundRect">
                <a:avLst>
                  <a:gd fmla="val 3333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20"/>
              <p:cNvSpPr/>
              <p:nvPr/>
            </p:nvSpPr>
            <p:spPr>
              <a:xfrm>
                <a:off x="0" y="0"/>
                <a:ext cx="76200" cy="1143000"/>
              </a:xfrm>
              <a:prstGeom prst="roundRect">
                <a:avLst>
                  <a:gd fmla="val 50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20"/>
              <p:cNvSpPr txBox="1"/>
              <p:nvPr/>
            </p:nvSpPr>
            <p:spPr>
              <a:xfrm>
                <a:off x="228600" y="228600"/>
                <a:ext cx="358140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Testing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Wokwi IoT Simulator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" name="Google Shape;310;p21"/>
          <p:cNvGrpSpPr/>
          <p:nvPr/>
        </p:nvGrpSpPr>
        <p:grpSpPr>
          <a:xfrm>
            <a:off x="0" y="0"/>
            <a:ext cx="9144000" cy="666900"/>
            <a:chOff x="0" y="0"/>
            <a:chExt cx="9144000" cy="666900"/>
          </a:xfrm>
        </p:grpSpPr>
        <p:sp>
          <p:nvSpPr>
            <p:cNvPr id="311" name="Google Shape;311;p21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2" name="Google Shape;312;p21"/>
            <p:cNvCxnSpPr/>
            <p:nvPr/>
          </p:nvCxnSpPr>
          <p:spPr>
            <a:xfrm>
              <a:off x="0" y="66675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13" name="Google Shape;313;p21"/>
            <p:cNvGrpSpPr/>
            <p:nvPr/>
          </p:nvGrpSpPr>
          <p:grpSpPr>
            <a:xfrm>
              <a:off x="333375" y="142875"/>
              <a:ext cx="1428900" cy="381000"/>
              <a:chOff x="0" y="0"/>
              <a:chExt cx="1428900" cy="381000"/>
            </a:xfrm>
          </p:grpSpPr>
          <p:sp>
            <p:nvSpPr>
              <p:cNvPr id="314" name="Google Shape;314;p21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21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TIDCO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16" name="Google Shape;316;p21"/>
            <p:cNvGrpSpPr/>
            <p:nvPr/>
          </p:nvGrpSpPr>
          <p:grpSpPr>
            <a:xfrm>
              <a:off x="2095500" y="142875"/>
              <a:ext cx="1428900" cy="381000"/>
              <a:chOff x="0" y="0"/>
              <a:chExt cx="1428900" cy="381000"/>
            </a:xfrm>
          </p:grpSpPr>
          <p:sp>
            <p:nvSpPr>
              <p:cNvPr id="317" name="Google Shape;317;p21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21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TANSAM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19" name="Google Shape;319;p21"/>
            <p:cNvGrpSpPr/>
            <p:nvPr/>
          </p:nvGrpSpPr>
          <p:grpSpPr>
            <a:xfrm>
              <a:off x="3857625" y="142875"/>
              <a:ext cx="1428900" cy="381000"/>
              <a:chOff x="0" y="0"/>
              <a:chExt cx="1428900" cy="381000"/>
            </a:xfrm>
          </p:grpSpPr>
          <p:sp>
            <p:nvSpPr>
              <p:cNvPr id="320" name="Google Shape;320;p21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21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GOVT OF TN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22" name="Google Shape;322;p21"/>
            <p:cNvGrpSpPr/>
            <p:nvPr/>
          </p:nvGrpSpPr>
          <p:grpSpPr>
            <a:xfrm>
              <a:off x="5619750" y="142875"/>
              <a:ext cx="1428900" cy="381000"/>
              <a:chOff x="0" y="0"/>
              <a:chExt cx="1428900" cy="381000"/>
            </a:xfrm>
          </p:grpSpPr>
          <p:sp>
            <p:nvSpPr>
              <p:cNvPr id="323" name="Google Shape;323;p21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21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SIEMENS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25" name="Google Shape;325;p21"/>
            <p:cNvGrpSpPr/>
            <p:nvPr/>
          </p:nvGrpSpPr>
          <p:grpSpPr>
            <a:xfrm>
              <a:off x="7381875" y="142875"/>
              <a:ext cx="1428900" cy="381000"/>
              <a:chOff x="0" y="0"/>
              <a:chExt cx="1428900" cy="381000"/>
            </a:xfrm>
          </p:grpSpPr>
          <p:sp>
            <p:nvSpPr>
              <p:cNvPr id="326" name="Google Shape;326;p21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21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TN SKILL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328" name="Google Shape;328;p21"/>
          <p:cNvGrpSpPr/>
          <p:nvPr/>
        </p:nvGrpSpPr>
        <p:grpSpPr>
          <a:xfrm>
            <a:off x="457200" y="952500"/>
            <a:ext cx="8229600" cy="476400"/>
            <a:chOff x="0" y="0"/>
            <a:chExt cx="8229600" cy="476400"/>
          </a:xfrm>
        </p:grpSpPr>
        <p:sp>
          <p:nvSpPr>
            <p:cNvPr id="329" name="Google Shape;329;p21"/>
            <p:cNvSpPr/>
            <p:nvPr/>
          </p:nvSpPr>
          <p:spPr>
            <a:xfrm>
              <a:off x="0" y="0"/>
              <a:ext cx="76200" cy="30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1"/>
            <p:cNvSpPr txBox="1"/>
            <p:nvPr/>
          </p:nvSpPr>
          <p:spPr>
            <a:xfrm>
              <a:off x="228600" y="0"/>
              <a:ext cx="8001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i="0" lang="en" sz="2600" u="none" strike="noStrike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System Flowchart</a:t>
              </a:r>
              <a:endParaRPr b="1" i="0" sz="2600" u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1" name="Google Shape;331;p21"/>
          <p:cNvGrpSpPr/>
          <p:nvPr/>
        </p:nvGrpSpPr>
        <p:grpSpPr>
          <a:xfrm>
            <a:off x="457200" y="2286000"/>
            <a:ext cx="8229600" cy="762000"/>
            <a:chOff x="0" y="0"/>
            <a:chExt cx="8229600" cy="762000"/>
          </a:xfrm>
        </p:grpSpPr>
        <p:grpSp>
          <p:nvGrpSpPr>
            <p:cNvPr id="332" name="Google Shape;332;p21"/>
            <p:cNvGrpSpPr/>
            <p:nvPr/>
          </p:nvGrpSpPr>
          <p:grpSpPr>
            <a:xfrm>
              <a:off x="0" y="0"/>
              <a:ext cx="1371600" cy="762000"/>
              <a:chOff x="0" y="0"/>
              <a:chExt cx="1371600" cy="762000"/>
            </a:xfrm>
          </p:grpSpPr>
          <p:sp>
            <p:nvSpPr>
              <p:cNvPr id="333" name="Google Shape;333;p21"/>
              <p:cNvSpPr/>
              <p:nvPr/>
            </p:nvSpPr>
            <p:spPr>
              <a:xfrm>
                <a:off x="0" y="0"/>
                <a:ext cx="13716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1"/>
              <p:cNvSpPr txBox="1"/>
              <p:nvPr/>
            </p:nvSpPr>
            <p:spPr>
              <a:xfrm>
                <a:off x="76200" y="76200"/>
                <a:ext cx="12192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Start</a:t>
                </a:r>
                <a:endParaRPr b="0" sz="14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335" name="Google Shape;335;p21"/>
            <p:cNvSpPr/>
            <p:nvPr/>
          </p:nvSpPr>
          <p:spPr>
            <a:xfrm>
              <a:off x="1447800" y="342900"/>
              <a:ext cx="152400" cy="76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lnTo>
                    <a:pt x="90000" y="0"/>
                  </a:lnTo>
                  <a:moveTo>
                    <a:pt x="120000" y="60000"/>
                  </a:moveTo>
                  <a:lnTo>
                    <a:pt x="9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6" name="Google Shape;336;p21"/>
            <p:cNvGrpSpPr/>
            <p:nvPr/>
          </p:nvGrpSpPr>
          <p:grpSpPr>
            <a:xfrm>
              <a:off x="1714500" y="0"/>
              <a:ext cx="1371600" cy="762000"/>
              <a:chOff x="0" y="0"/>
              <a:chExt cx="1371600" cy="762000"/>
            </a:xfrm>
          </p:grpSpPr>
          <p:sp>
            <p:nvSpPr>
              <p:cNvPr id="337" name="Google Shape;337;p21"/>
              <p:cNvSpPr/>
              <p:nvPr/>
            </p:nvSpPr>
            <p:spPr>
              <a:xfrm>
                <a:off x="0" y="0"/>
                <a:ext cx="13716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21"/>
              <p:cNvSpPr txBox="1"/>
              <p:nvPr/>
            </p:nvSpPr>
            <p:spPr>
              <a:xfrm>
                <a:off x="76200" y="76200"/>
                <a:ext cx="12192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Read Sensor Array</a:t>
                </a:r>
                <a:endParaRPr b="0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339" name="Google Shape;339;p21"/>
            <p:cNvSpPr/>
            <p:nvPr/>
          </p:nvSpPr>
          <p:spPr>
            <a:xfrm>
              <a:off x="3162300" y="342900"/>
              <a:ext cx="152400" cy="76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lnTo>
                    <a:pt x="90000" y="0"/>
                  </a:lnTo>
                  <a:moveTo>
                    <a:pt x="120000" y="60000"/>
                  </a:moveTo>
                  <a:lnTo>
                    <a:pt x="9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0" name="Google Shape;340;p21"/>
            <p:cNvGrpSpPr/>
            <p:nvPr/>
          </p:nvGrpSpPr>
          <p:grpSpPr>
            <a:xfrm>
              <a:off x="3429000" y="0"/>
              <a:ext cx="1371600" cy="762000"/>
              <a:chOff x="0" y="0"/>
              <a:chExt cx="1371600" cy="762000"/>
            </a:xfrm>
          </p:grpSpPr>
          <p:sp>
            <p:nvSpPr>
              <p:cNvPr id="341" name="Google Shape;341;p21"/>
              <p:cNvSpPr/>
              <p:nvPr/>
            </p:nvSpPr>
            <p:spPr>
              <a:xfrm>
                <a:off x="0" y="0"/>
                <a:ext cx="13716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1"/>
              <p:cNvSpPr txBox="1"/>
              <p:nvPr/>
            </p:nvSpPr>
            <p:spPr>
              <a:xfrm>
                <a:off x="76200" y="76200"/>
                <a:ext cx="12192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Threshold Decision</a:t>
                </a:r>
                <a:endParaRPr b="0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343" name="Google Shape;343;p21"/>
            <p:cNvSpPr/>
            <p:nvPr/>
          </p:nvSpPr>
          <p:spPr>
            <a:xfrm>
              <a:off x="4876800" y="342900"/>
              <a:ext cx="152400" cy="76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lnTo>
                    <a:pt x="90000" y="0"/>
                  </a:lnTo>
                  <a:moveTo>
                    <a:pt x="120000" y="60000"/>
                  </a:moveTo>
                  <a:lnTo>
                    <a:pt x="9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4" name="Google Shape;344;p21"/>
            <p:cNvGrpSpPr/>
            <p:nvPr/>
          </p:nvGrpSpPr>
          <p:grpSpPr>
            <a:xfrm>
              <a:off x="5143500" y="0"/>
              <a:ext cx="1371600" cy="762000"/>
              <a:chOff x="0" y="0"/>
              <a:chExt cx="1371600" cy="762000"/>
            </a:xfrm>
          </p:grpSpPr>
          <p:sp>
            <p:nvSpPr>
              <p:cNvPr id="345" name="Google Shape;345;p21"/>
              <p:cNvSpPr/>
              <p:nvPr/>
            </p:nvSpPr>
            <p:spPr>
              <a:xfrm>
                <a:off x="0" y="0"/>
                <a:ext cx="13716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1"/>
              <p:cNvSpPr txBox="1"/>
              <p:nvPr/>
            </p:nvSpPr>
            <p:spPr>
              <a:xfrm>
                <a:off x="76200" y="76200"/>
                <a:ext cx="12192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Trigger Actuators</a:t>
                </a:r>
                <a:endParaRPr b="0" sz="13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sp>
          <p:nvSpPr>
            <p:cNvPr id="347" name="Google Shape;347;p21"/>
            <p:cNvSpPr/>
            <p:nvPr/>
          </p:nvSpPr>
          <p:spPr>
            <a:xfrm>
              <a:off x="6591300" y="342900"/>
              <a:ext cx="152400" cy="76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lnTo>
                    <a:pt x="90000" y="0"/>
                  </a:lnTo>
                  <a:moveTo>
                    <a:pt x="120000" y="60000"/>
                  </a:moveTo>
                  <a:lnTo>
                    <a:pt x="9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4755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8" name="Google Shape;348;p21"/>
            <p:cNvGrpSpPr/>
            <p:nvPr/>
          </p:nvGrpSpPr>
          <p:grpSpPr>
            <a:xfrm>
              <a:off x="6858000" y="0"/>
              <a:ext cx="1371600" cy="762000"/>
              <a:chOff x="0" y="0"/>
              <a:chExt cx="1371600" cy="762000"/>
            </a:xfrm>
          </p:grpSpPr>
          <p:sp>
            <p:nvSpPr>
              <p:cNvPr id="349" name="Google Shape;349;p21"/>
              <p:cNvSpPr/>
              <p:nvPr/>
            </p:nvSpPr>
            <p:spPr>
              <a:xfrm>
                <a:off x="0" y="0"/>
                <a:ext cx="1371600" cy="762000"/>
              </a:xfrm>
              <a:prstGeom prst="roundRect">
                <a:avLst>
                  <a:gd fmla="val 50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1"/>
              <p:cNvSpPr txBox="1"/>
              <p:nvPr/>
            </p:nvSpPr>
            <p:spPr>
              <a:xfrm>
                <a:off x="76200" y="76200"/>
                <a:ext cx="12192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Loop</a:t>
                </a:r>
                <a:endParaRPr b="0" sz="14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6" name="Google Shape;356;p22"/>
          <p:cNvGrpSpPr/>
          <p:nvPr/>
        </p:nvGrpSpPr>
        <p:grpSpPr>
          <a:xfrm>
            <a:off x="0" y="0"/>
            <a:ext cx="9144000" cy="666900"/>
            <a:chOff x="0" y="0"/>
            <a:chExt cx="9144000" cy="666900"/>
          </a:xfrm>
        </p:grpSpPr>
        <p:sp>
          <p:nvSpPr>
            <p:cNvPr id="357" name="Google Shape;357;p22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8" name="Google Shape;358;p22"/>
            <p:cNvCxnSpPr/>
            <p:nvPr/>
          </p:nvCxnSpPr>
          <p:spPr>
            <a:xfrm>
              <a:off x="0" y="66675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59" name="Google Shape;359;p22"/>
            <p:cNvGrpSpPr/>
            <p:nvPr/>
          </p:nvGrpSpPr>
          <p:grpSpPr>
            <a:xfrm>
              <a:off x="333375" y="142875"/>
              <a:ext cx="1428900" cy="381000"/>
              <a:chOff x="0" y="0"/>
              <a:chExt cx="1428900" cy="381000"/>
            </a:xfrm>
          </p:grpSpPr>
          <p:sp>
            <p:nvSpPr>
              <p:cNvPr id="360" name="Google Shape;360;p22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22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TIDCO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62" name="Google Shape;362;p22"/>
            <p:cNvGrpSpPr/>
            <p:nvPr/>
          </p:nvGrpSpPr>
          <p:grpSpPr>
            <a:xfrm>
              <a:off x="2095500" y="142875"/>
              <a:ext cx="1428900" cy="381000"/>
              <a:chOff x="0" y="0"/>
              <a:chExt cx="1428900" cy="381000"/>
            </a:xfrm>
          </p:grpSpPr>
          <p:sp>
            <p:nvSpPr>
              <p:cNvPr id="363" name="Google Shape;363;p22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22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TANSAM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65" name="Google Shape;365;p22"/>
            <p:cNvGrpSpPr/>
            <p:nvPr/>
          </p:nvGrpSpPr>
          <p:grpSpPr>
            <a:xfrm>
              <a:off x="3857625" y="142875"/>
              <a:ext cx="1428900" cy="381000"/>
              <a:chOff x="0" y="0"/>
              <a:chExt cx="1428900" cy="381000"/>
            </a:xfrm>
          </p:grpSpPr>
          <p:sp>
            <p:nvSpPr>
              <p:cNvPr id="366" name="Google Shape;366;p22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22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GOVT OF TN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68" name="Google Shape;368;p22"/>
            <p:cNvGrpSpPr/>
            <p:nvPr/>
          </p:nvGrpSpPr>
          <p:grpSpPr>
            <a:xfrm>
              <a:off x="5619750" y="142875"/>
              <a:ext cx="1428900" cy="381000"/>
              <a:chOff x="0" y="0"/>
              <a:chExt cx="1428900" cy="381000"/>
            </a:xfrm>
          </p:grpSpPr>
          <p:sp>
            <p:nvSpPr>
              <p:cNvPr id="369" name="Google Shape;369;p22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2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SIEMENS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71" name="Google Shape;371;p22"/>
            <p:cNvGrpSpPr/>
            <p:nvPr/>
          </p:nvGrpSpPr>
          <p:grpSpPr>
            <a:xfrm>
              <a:off x="7381875" y="142875"/>
              <a:ext cx="1428900" cy="381000"/>
              <a:chOff x="0" y="0"/>
              <a:chExt cx="1428900" cy="381000"/>
            </a:xfrm>
          </p:grpSpPr>
          <p:sp>
            <p:nvSpPr>
              <p:cNvPr id="372" name="Google Shape;372;p22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2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TN SKILL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374" name="Google Shape;374;p22"/>
          <p:cNvGrpSpPr/>
          <p:nvPr/>
        </p:nvGrpSpPr>
        <p:grpSpPr>
          <a:xfrm>
            <a:off x="457200" y="952500"/>
            <a:ext cx="8229600" cy="476400"/>
            <a:chOff x="0" y="0"/>
            <a:chExt cx="8229600" cy="476400"/>
          </a:xfrm>
        </p:grpSpPr>
        <p:sp>
          <p:nvSpPr>
            <p:cNvPr id="375" name="Google Shape;375;p22"/>
            <p:cNvSpPr/>
            <p:nvPr/>
          </p:nvSpPr>
          <p:spPr>
            <a:xfrm>
              <a:off x="0" y="0"/>
              <a:ext cx="76200" cy="30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2"/>
            <p:cNvSpPr txBox="1"/>
            <p:nvPr/>
          </p:nvSpPr>
          <p:spPr>
            <a:xfrm>
              <a:off x="228600" y="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2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Advantages</a:t>
              </a:r>
              <a:endParaRPr b="1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7" name="Google Shape;377;p22"/>
          <p:cNvGrpSpPr/>
          <p:nvPr/>
        </p:nvGrpSpPr>
        <p:grpSpPr>
          <a:xfrm>
            <a:off x="457200" y="1714500"/>
            <a:ext cx="8229600" cy="3048000"/>
            <a:chOff x="0" y="0"/>
            <a:chExt cx="8229600" cy="3048000"/>
          </a:xfrm>
        </p:grpSpPr>
        <p:grpSp>
          <p:nvGrpSpPr>
            <p:cNvPr id="378" name="Google Shape;378;p22"/>
            <p:cNvGrpSpPr/>
            <p:nvPr/>
          </p:nvGrpSpPr>
          <p:grpSpPr>
            <a:xfrm>
              <a:off x="0" y="0"/>
              <a:ext cx="2514600" cy="3048000"/>
              <a:chOff x="0" y="0"/>
              <a:chExt cx="2514600" cy="3048000"/>
            </a:xfrm>
          </p:grpSpPr>
          <p:sp>
            <p:nvSpPr>
              <p:cNvPr id="379" name="Google Shape;379;p22"/>
              <p:cNvSpPr/>
              <p:nvPr/>
            </p:nvSpPr>
            <p:spPr>
              <a:xfrm>
                <a:off x="0" y="0"/>
                <a:ext cx="2514600" cy="381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22"/>
              <p:cNvSpPr txBox="1"/>
              <p:nvPr/>
            </p:nvSpPr>
            <p:spPr>
              <a:xfrm>
                <a:off x="0" y="190500"/>
                <a:ext cx="25146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Discreet Alerts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Silent tactile feedback is effective even in noisy traffic.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81" name="Google Shape;381;p22"/>
            <p:cNvGrpSpPr/>
            <p:nvPr/>
          </p:nvGrpSpPr>
          <p:grpSpPr>
            <a:xfrm>
              <a:off x="2857500" y="0"/>
              <a:ext cx="2514600" cy="3048000"/>
              <a:chOff x="0" y="0"/>
              <a:chExt cx="2514600" cy="3048000"/>
            </a:xfrm>
          </p:grpSpPr>
          <p:sp>
            <p:nvSpPr>
              <p:cNvPr id="382" name="Google Shape;382;p22"/>
              <p:cNvSpPr/>
              <p:nvPr/>
            </p:nvSpPr>
            <p:spPr>
              <a:xfrm>
                <a:off x="0" y="0"/>
                <a:ext cx="2514600" cy="381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22"/>
              <p:cNvSpPr txBox="1"/>
              <p:nvPr/>
            </p:nvSpPr>
            <p:spPr>
              <a:xfrm>
                <a:off x="0" y="190500"/>
                <a:ext cx="25146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Comprehensive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Multi-hazard safety covering obstacles, drops, and gases.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84" name="Google Shape;384;p22"/>
            <p:cNvGrpSpPr/>
            <p:nvPr/>
          </p:nvGrpSpPr>
          <p:grpSpPr>
            <a:xfrm>
              <a:off x="5715000" y="0"/>
              <a:ext cx="2514600" cy="3048000"/>
              <a:chOff x="0" y="0"/>
              <a:chExt cx="2514600" cy="3048000"/>
            </a:xfrm>
          </p:grpSpPr>
          <p:sp>
            <p:nvSpPr>
              <p:cNvPr id="385" name="Google Shape;385;p22"/>
              <p:cNvSpPr/>
              <p:nvPr/>
            </p:nvSpPr>
            <p:spPr>
              <a:xfrm>
                <a:off x="0" y="0"/>
                <a:ext cx="2514600" cy="38100"/>
              </a:xfrm>
              <a:prstGeom prst="rect">
                <a:avLst/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2"/>
              <p:cNvSpPr txBox="1"/>
              <p:nvPr/>
            </p:nvSpPr>
            <p:spPr>
              <a:xfrm>
                <a:off x="0" y="190500"/>
                <a:ext cx="2514600" cy="2857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Accessible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Highly affordable and fully rechargeable design.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1" name="Google Shape;391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92" name="Google Shape;392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3" name="Google Shape;393;p23"/>
            <p:cNvGrpSpPr/>
            <p:nvPr/>
          </p:nvGrpSpPr>
          <p:grpSpPr>
            <a:xfrm>
              <a:off x="0" y="0"/>
              <a:ext cx="9144000" cy="666900"/>
              <a:chOff x="0" y="0"/>
              <a:chExt cx="9144000" cy="666900"/>
            </a:xfrm>
          </p:grpSpPr>
          <p:sp>
            <p:nvSpPr>
              <p:cNvPr id="394" name="Google Shape;394;p23"/>
              <p:cNvSpPr/>
              <p:nvPr/>
            </p:nvSpPr>
            <p:spPr>
              <a:xfrm>
                <a:off x="0" y="0"/>
                <a:ext cx="9144000" cy="666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5" name="Google Shape;395;p23"/>
              <p:cNvCxnSpPr/>
              <p:nvPr/>
            </p:nvCxnSpPr>
            <p:spPr>
              <a:xfrm>
                <a:off x="0" y="666750"/>
                <a:ext cx="9144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396" name="Google Shape;396;p23"/>
              <p:cNvGrpSpPr/>
              <p:nvPr/>
            </p:nvGrpSpPr>
            <p:grpSpPr>
              <a:xfrm>
                <a:off x="333375" y="142875"/>
                <a:ext cx="1428900" cy="381000"/>
                <a:chOff x="0" y="0"/>
                <a:chExt cx="1428900" cy="381000"/>
              </a:xfrm>
            </p:grpSpPr>
            <p:sp>
              <p:nvSpPr>
                <p:cNvPr id="397" name="Google Shape;397;p23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" name="Google Shape;398;p23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TIDCO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399" name="Google Shape;399;p23"/>
              <p:cNvGrpSpPr/>
              <p:nvPr/>
            </p:nvGrpSpPr>
            <p:grpSpPr>
              <a:xfrm>
                <a:off x="2095500" y="142875"/>
                <a:ext cx="1428900" cy="381000"/>
                <a:chOff x="0" y="0"/>
                <a:chExt cx="1428900" cy="381000"/>
              </a:xfrm>
            </p:grpSpPr>
            <p:sp>
              <p:nvSpPr>
                <p:cNvPr id="400" name="Google Shape;400;p23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" name="Google Shape;401;p23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TANSAM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402" name="Google Shape;402;p23"/>
              <p:cNvGrpSpPr/>
              <p:nvPr/>
            </p:nvGrpSpPr>
            <p:grpSpPr>
              <a:xfrm>
                <a:off x="3857625" y="142875"/>
                <a:ext cx="1428900" cy="381000"/>
                <a:chOff x="0" y="0"/>
                <a:chExt cx="1428900" cy="381000"/>
              </a:xfrm>
            </p:grpSpPr>
            <p:sp>
              <p:nvSpPr>
                <p:cNvPr id="403" name="Google Shape;403;p23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4" name="Google Shape;404;p23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GOVT OF TN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405" name="Google Shape;405;p23"/>
              <p:cNvGrpSpPr/>
              <p:nvPr/>
            </p:nvGrpSpPr>
            <p:grpSpPr>
              <a:xfrm>
                <a:off x="5619750" y="142875"/>
                <a:ext cx="1428900" cy="381000"/>
                <a:chOff x="0" y="0"/>
                <a:chExt cx="1428900" cy="381000"/>
              </a:xfrm>
            </p:grpSpPr>
            <p:sp>
              <p:nvSpPr>
                <p:cNvPr id="406" name="Google Shape;406;p23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7" name="Google Shape;407;p23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SIEMENS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  <p:grpSp>
            <p:nvGrpSpPr>
              <p:cNvPr id="408" name="Google Shape;408;p23"/>
              <p:cNvGrpSpPr/>
              <p:nvPr/>
            </p:nvGrpSpPr>
            <p:grpSpPr>
              <a:xfrm>
                <a:off x="7381875" y="142875"/>
                <a:ext cx="1428900" cy="381000"/>
                <a:chOff x="0" y="0"/>
                <a:chExt cx="1428900" cy="381000"/>
              </a:xfrm>
            </p:grpSpPr>
            <p:sp>
              <p:nvSpPr>
                <p:cNvPr id="409" name="Google Shape;409;p23"/>
                <p:cNvSpPr/>
                <p:nvPr/>
              </p:nvSpPr>
              <p:spPr>
                <a:xfrm>
                  <a:off x="0" y="0"/>
                  <a:ext cx="1428900" cy="381000"/>
                </a:xfrm>
                <a:prstGeom prst="roundRect">
                  <a:avLst>
                    <a:gd fmla="val 10000" name="adj"/>
                  </a:avLst>
                </a:prstGeom>
                <a:solidFill>
                  <a:srgbClr val="F4F6F8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" name="Google Shape;410;p23"/>
                <p:cNvSpPr txBox="1"/>
                <p:nvPr/>
              </p:nvSpPr>
              <p:spPr>
                <a:xfrm>
                  <a:off x="0" y="0"/>
                  <a:ext cx="14289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000">
                      <a:solidFill>
                        <a:srgbClr val="0F172A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TN SKILL</a:t>
                  </a:r>
                  <a:endParaRPr b="0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</p:grpSp>
      <p:grpSp>
        <p:nvGrpSpPr>
          <p:cNvPr id="411" name="Google Shape;411;p23"/>
          <p:cNvGrpSpPr/>
          <p:nvPr/>
        </p:nvGrpSpPr>
        <p:grpSpPr>
          <a:xfrm>
            <a:off x="457200" y="952500"/>
            <a:ext cx="8229600" cy="476400"/>
            <a:chOff x="0" y="0"/>
            <a:chExt cx="8229600" cy="476400"/>
          </a:xfrm>
        </p:grpSpPr>
        <p:sp>
          <p:nvSpPr>
            <p:cNvPr id="412" name="Google Shape;412;p23"/>
            <p:cNvSpPr/>
            <p:nvPr/>
          </p:nvSpPr>
          <p:spPr>
            <a:xfrm>
              <a:off x="0" y="0"/>
              <a:ext cx="76200" cy="30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3"/>
            <p:cNvSpPr txBox="1"/>
            <p:nvPr/>
          </p:nvSpPr>
          <p:spPr>
            <a:xfrm>
              <a:off x="228600" y="0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en" sz="2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Applications</a:t>
              </a:r>
              <a:endParaRPr b="1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4" name="Google Shape;414;p23"/>
          <p:cNvGrpSpPr/>
          <p:nvPr/>
        </p:nvGrpSpPr>
        <p:grpSpPr>
          <a:xfrm>
            <a:off x="457200" y="1714500"/>
            <a:ext cx="8229600" cy="2857500"/>
            <a:chOff x="0" y="0"/>
            <a:chExt cx="8229600" cy="2857500"/>
          </a:xfrm>
        </p:grpSpPr>
        <p:grpSp>
          <p:nvGrpSpPr>
            <p:cNvPr id="415" name="Google Shape;415;p23"/>
            <p:cNvGrpSpPr/>
            <p:nvPr/>
          </p:nvGrpSpPr>
          <p:grpSpPr>
            <a:xfrm>
              <a:off x="0" y="0"/>
              <a:ext cx="2514600" cy="2857500"/>
              <a:chOff x="0" y="0"/>
              <a:chExt cx="2514600" cy="2857500"/>
            </a:xfrm>
          </p:grpSpPr>
          <p:sp>
            <p:nvSpPr>
              <p:cNvPr id="416" name="Google Shape;416;p23"/>
              <p:cNvSpPr/>
              <p:nvPr/>
            </p:nvSpPr>
            <p:spPr>
              <a:xfrm>
                <a:off x="0" y="0"/>
                <a:ext cx="2514600" cy="2857500"/>
              </a:xfrm>
              <a:prstGeom prst="roundRect">
                <a:avLst>
                  <a:gd fmla="val 1515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23"/>
              <p:cNvSpPr/>
              <p:nvPr/>
            </p:nvSpPr>
            <p:spPr>
              <a:xfrm>
                <a:off x="0" y="0"/>
                <a:ext cx="25146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3"/>
              <p:cNvSpPr txBox="1"/>
              <p:nvPr/>
            </p:nvSpPr>
            <p:spPr>
              <a:xfrm>
                <a:off x="190500" y="228600"/>
                <a:ext cx="2133600" cy="24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Urban Mobility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Safe walking assistance on crowded sidewalks.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19" name="Google Shape;419;p23"/>
            <p:cNvGrpSpPr/>
            <p:nvPr/>
          </p:nvGrpSpPr>
          <p:grpSpPr>
            <a:xfrm>
              <a:off x="2857500" y="0"/>
              <a:ext cx="2514600" cy="2857500"/>
              <a:chOff x="0" y="0"/>
              <a:chExt cx="2514600" cy="2857500"/>
            </a:xfrm>
          </p:grpSpPr>
          <p:sp>
            <p:nvSpPr>
              <p:cNvPr id="420" name="Google Shape;420;p23"/>
              <p:cNvSpPr/>
              <p:nvPr/>
            </p:nvSpPr>
            <p:spPr>
              <a:xfrm>
                <a:off x="0" y="0"/>
                <a:ext cx="2514600" cy="2857500"/>
              </a:xfrm>
              <a:prstGeom prst="roundRect">
                <a:avLst>
                  <a:gd fmla="val 1515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0" y="0"/>
                <a:ext cx="25146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23"/>
              <p:cNvSpPr txBox="1"/>
              <p:nvPr/>
            </p:nvSpPr>
            <p:spPr>
              <a:xfrm>
                <a:off x="190500" y="228600"/>
                <a:ext cx="2133600" cy="24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Fall Prevention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Early warning for staircases and open potholes.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23" name="Google Shape;423;p23"/>
            <p:cNvGrpSpPr/>
            <p:nvPr/>
          </p:nvGrpSpPr>
          <p:grpSpPr>
            <a:xfrm>
              <a:off x="5715000" y="0"/>
              <a:ext cx="2514600" cy="2857500"/>
              <a:chOff x="0" y="0"/>
              <a:chExt cx="2514600" cy="2857500"/>
            </a:xfrm>
          </p:grpSpPr>
          <p:sp>
            <p:nvSpPr>
              <p:cNvPr id="424" name="Google Shape;424;p23"/>
              <p:cNvSpPr/>
              <p:nvPr/>
            </p:nvSpPr>
            <p:spPr>
              <a:xfrm>
                <a:off x="0" y="0"/>
                <a:ext cx="2514600" cy="2857500"/>
              </a:xfrm>
              <a:prstGeom prst="roundRect">
                <a:avLst>
                  <a:gd fmla="val 1515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23"/>
              <p:cNvSpPr/>
              <p:nvPr/>
            </p:nvSpPr>
            <p:spPr>
              <a:xfrm>
                <a:off x="0" y="0"/>
                <a:ext cx="25146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3"/>
              <p:cNvSpPr txBox="1"/>
              <p:nvPr/>
            </p:nvSpPr>
            <p:spPr>
              <a:xfrm>
                <a:off x="190500" y="228600"/>
                <a:ext cx="2133600" cy="24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8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Indoor Safety</a:t>
                </a:r>
                <a:endParaRPr b="0" sz="1800">
                  <a:solidFill>
                    <a:srgbClr val="0284C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90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Domestic gas leak alerts for home environments.</a:t>
                </a:r>
                <a:endParaRPr b="0" sz="14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2" name="Google Shape;432;p24"/>
          <p:cNvGrpSpPr/>
          <p:nvPr/>
        </p:nvGrpSpPr>
        <p:grpSpPr>
          <a:xfrm>
            <a:off x="0" y="0"/>
            <a:ext cx="9144000" cy="666900"/>
            <a:chOff x="0" y="0"/>
            <a:chExt cx="9144000" cy="666900"/>
          </a:xfrm>
        </p:grpSpPr>
        <p:sp>
          <p:nvSpPr>
            <p:cNvPr id="433" name="Google Shape;433;p24"/>
            <p:cNvSpPr/>
            <p:nvPr/>
          </p:nvSpPr>
          <p:spPr>
            <a:xfrm>
              <a:off x="0" y="0"/>
              <a:ext cx="9144000" cy="666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4" name="Google Shape;434;p24"/>
            <p:cNvCxnSpPr/>
            <p:nvPr/>
          </p:nvCxnSpPr>
          <p:spPr>
            <a:xfrm>
              <a:off x="0" y="666750"/>
              <a:ext cx="9144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35" name="Google Shape;435;p24"/>
            <p:cNvGrpSpPr/>
            <p:nvPr/>
          </p:nvGrpSpPr>
          <p:grpSpPr>
            <a:xfrm>
              <a:off x="333375" y="142875"/>
              <a:ext cx="1428900" cy="381000"/>
              <a:chOff x="0" y="0"/>
              <a:chExt cx="1428900" cy="381000"/>
            </a:xfrm>
          </p:grpSpPr>
          <p:sp>
            <p:nvSpPr>
              <p:cNvPr id="436" name="Google Shape;436;p24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4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TIDCO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38" name="Google Shape;438;p24"/>
            <p:cNvGrpSpPr/>
            <p:nvPr/>
          </p:nvGrpSpPr>
          <p:grpSpPr>
            <a:xfrm>
              <a:off x="2095500" y="142875"/>
              <a:ext cx="1428900" cy="381000"/>
              <a:chOff x="0" y="0"/>
              <a:chExt cx="1428900" cy="381000"/>
            </a:xfrm>
          </p:grpSpPr>
          <p:sp>
            <p:nvSpPr>
              <p:cNvPr id="439" name="Google Shape;439;p24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4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TANSAM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41" name="Google Shape;441;p24"/>
            <p:cNvGrpSpPr/>
            <p:nvPr/>
          </p:nvGrpSpPr>
          <p:grpSpPr>
            <a:xfrm>
              <a:off x="3857625" y="142875"/>
              <a:ext cx="1428900" cy="381000"/>
              <a:chOff x="0" y="0"/>
              <a:chExt cx="1428900" cy="381000"/>
            </a:xfrm>
          </p:grpSpPr>
          <p:sp>
            <p:nvSpPr>
              <p:cNvPr id="442" name="Google Shape;442;p24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4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GOVT OF TN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44" name="Google Shape;444;p24"/>
            <p:cNvGrpSpPr/>
            <p:nvPr/>
          </p:nvGrpSpPr>
          <p:grpSpPr>
            <a:xfrm>
              <a:off x="5619750" y="142875"/>
              <a:ext cx="1428900" cy="381000"/>
              <a:chOff x="0" y="0"/>
              <a:chExt cx="1428900" cy="381000"/>
            </a:xfrm>
          </p:grpSpPr>
          <p:sp>
            <p:nvSpPr>
              <p:cNvPr id="445" name="Google Shape;445;p24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4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SIEMENS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447" name="Google Shape;447;p24"/>
            <p:cNvGrpSpPr/>
            <p:nvPr/>
          </p:nvGrpSpPr>
          <p:grpSpPr>
            <a:xfrm>
              <a:off x="7381875" y="142875"/>
              <a:ext cx="1428900" cy="381000"/>
              <a:chOff x="0" y="0"/>
              <a:chExt cx="1428900" cy="381000"/>
            </a:xfrm>
          </p:grpSpPr>
          <p:sp>
            <p:nvSpPr>
              <p:cNvPr id="448" name="Google Shape;448;p24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F4F6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4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TN SKILL</a:t>
                </a:r>
                <a:endParaRPr b="0" sz="10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450" name="Google Shape;450;p24"/>
          <p:cNvGrpSpPr/>
          <p:nvPr/>
        </p:nvGrpSpPr>
        <p:grpSpPr>
          <a:xfrm>
            <a:off x="457200" y="952500"/>
            <a:ext cx="8229600" cy="428700"/>
            <a:chOff x="0" y="0"/>
            <a:chExt cx="8229600" cy="428700"/>
          </a:xfrm>
        </p:grpSpPr>
        <p:sp>
          <p:nvSpPr>
            <p:cNvPr id="451" name="Google Shape;451;p24"/>
            <p:cNvSpPr/>
            <p:nvPr/>
          </p:nvSpPr>
          <p:spPr>
            <a:xfrm>
              <a:off x="0" y="0"/>
              <a:ext cx="76200" cy="3048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4"/>
            <p:cNvSpPr txBox="1"/>
            <p:nvPr/>
          </p:nvSpPr>
          <p:spPr>
            <a:xfrm>
              <a:off x="228600" y="0"/>
              <a:ext cx="8001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Future Scope</a:t>
              </a:r>
              <a:endParaRPr b="1" sz="2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53" name="Google Shape;453;p24"/>
          <p:cNvGrpSpPr/>
          <p:nvPr/>
        </p:nvGrpSpPr>
        <p:grpSpPr>
          <a:xfrm>
            <a:off x="457200" y="1571625"/>
            <a:ext cx="8229600" cy="2705100"/>
            <a:chOff x="0" y="0"/>
            <a:chExt cx="8229600" cy="2705100"/>
          </a:xfrm>
        </p:grpSpPr>
        <p:grpSp>
          <p:nvGrpSpPr>
            <p:cNvPr id="454" name="Google Shape;454;p24"/>
            <p:cNvGrpSpPr/>
            <p:nvPr/>
          </p:nvGrpSpPr>
          <p:grpSpPr>
            <a:xfrm>
              <a:off x="0" y="0"/>
              <a:ext cx="4953000" cy="2705100"/>
              <a:chOff x="0" y="0"/>
              <a:chExt cx="4953000" cy="2705100"/>
            </a:xfrm>
          </p:grpSpPr>
          <p:grpSp>
            <p:nvGrpSpPr>
              <p:cNvPr id="455" name="Google Shape;455;p24"/>
              <p:cNvGrpSpPr/>
              <p:nvPr/>
            </p:nvGrpSpPr>
            <p:grpSpPr>
              <a:xfrm>
                <a:off x="0" y="0"/>
                <a:ext cx="4953000" cy="800100"/>
                <a:chOff x="0" y="0"/>
                <a:chExt cx="4953000" cy="800100"/>
              </a:xfrm>
            </p:grpSpPr>
            <p:sp>
              <p:nvSpPr>
                <p:cNvPr id="456" name="Google Shape;456;p24"/>
                <p:cNvSpPr/>
                <p:nvPr/>
              </p:nvSpPr>
              <p:spPr>
                <a:xfrm>
                  <a:off x="0" y="0"/>
                  <a:ext cx="4953000" cy="800100"/>
                </a:xfrm>
                <a:prstGeom prst="roundRect">
                  <a:avLst>
                    <a:gd fmla="val 7142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" name="Google Shape;457;p24"/>
                <p:cNvSpPr/>
                <p:nvPr/>
              </p:nvSpPr>
              <p:spPr>
                <a:xfrm>
                  <a:off x="0" y="0"/>
                  <a:ext cx="57300" cy="8001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284C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" name="Google Shape;458;p24"/>
                <p:cNvSpPr txBox="1"/>
                <p:nvPr/>
              </p:nvSpPr>
              <p:spPr>
                <a:xfrm>
                  <a:off x="228600" y="152400"/>
                  <a:ext cx="44958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0284C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Location Tracking</a:t>
                  </a:r>
                  <a:endParaRPr b="0" sz="15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140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GPS integration for live monitoring.</a:t>
                  </a:r>
                  <a:endParaRPr b="0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59" name="Google Shape;459;p24"/>
              <p:cNvGrpSpPr/>
              <p:nvPr/>
            </p:nvGrpSpPr>
            <p:grpSpPr>
              <a:xfrm>
                <a:off x="0" y="952500"/>
                <a:ext cx="4953000" cy="800100"/>
                <a:chOff x="0" y="0"/>
                <a:chExt cx="4953000" cy="800100"/>
              </a:xfrm>
            </p:grpSpPr>
            <p:sp>
              <p:nvSpPr>
                <p:cNvPr id="460" name="Google Shape;460;p24"/>
                <p:cNvSpPr/>
                <p:nvPr/>
              </p:nvSpPr>
              <p:spPr>
                <a:xfrm>
                  <a:off x="0" y="0"/>
                  <a:ext cx="4953000" cy="800100"/>
                </a:xfrm>
                <a:prstGeom prst="roundRect">
                  <a:avLst>
                    <a:gd fmla="val 7142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" name="Google Shape;461;p24"/>
                <p:cNvSpPr/>
                <p:nvPr/>
              </p:nvSpPr>
              <p:spPr>
                <a:xfrm>
                  <a:off x="0" y="0"/>
                  <a:ext cx="57300" cy="8001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284C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2" name="Google Shape;462;p24"/>
                <p:cNvSpPr txBox="1"/>
                <p:nvPr/>
              </p:nvSpPr>
              <p:spPr>
                <a:xfrm>
                  <a:off x="228600" y="152400"/>
                  <a:ext cx="44958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0284C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Emergency Alerts</a:t>
                  </a:r>
                  <a:endParaRPr b="0" sz="15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140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GSM SOS SMS system for immediate assistance.</a:t>
                  </a:r>
                  <a:endParaRPr b="0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63" name="Google Shape;463;p24"/>
              <p:cNvGrpSpPr/>
              <p:nvPr/>
            </p:nvGrpSpPr>
            <p:grpSpPr>
              <a:xfrm>
                <a:off x="0" y="1905000"/>
                <a:ext cx="4953000" cy="800100"/>
                <a:chOff x="0" y="0"/>
                <a:chExt cx="4953000" cy="800100"/>
              </a:xfrm>
            </p:grpSpPr>
            <p:sp>
              <p:nvSpPr>
                <p:cNvPr id="464" name="Google Shape;464;p24"/>
                <p:cNvSpPr/>
                <p:nvPr/>
              </p:nvSpPr>
              <p:spPr>
                <a:xfrm>
                  <a:off x="0" y="0"/>
                  <a:ext cx="4953000" cy="800100"/>
                </a:xfrm>
                <a:prstGeom prst="roundRect">
                  <a:avLst>
                    <a:gd fmla="val 7142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5" name="Google Shape;465;p24"/>
                <p:cNvSpPr/>
                <p:nvPr/>
              </p:nvSpPr>
              <p:spPr>
                <a:xfrm>
                  <a:off x="0" y="0"/>
                  <a:ext cx="57300" cy="8001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284C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6" name="Google Shape;466;p24"/>
                <p:cNvSpPr txBox="1"/>
                <p:nvPr/>
              </p:nvSpPr>
              <p:spPr>
                <a:xfrm>
                  <a:off x="228600" y="152400"/>
                  <a:ext cx="44958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0284C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Advanced Detection</a:t>
                  </a:r>
                  <a:endParaRPr b="0" sz="1500">
                    <a:solidFill>
                      <a:srgbClr val="0284C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b="0" lang="en" sz="140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AI vision camera for object recognition.</a:t>
                  </a:r>
                  <a:endParaRPr b="0" sz="14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grpSp>
          <p:nvGrpSpPr>
            <p:cNvPr id="467" name="Google Shape;467;p24"/>
            <p:cNvGrpSpPr/>
            <p:nvPr/>
          </p:nvGrpSpPr>
          <p:grpSpPr>
            <a:xfrm>
              <a:off x="5257800" y="0"/>
              <a:ext cx="2971800" cy="2705100"/>
              <a:chOff x="0" y="0"/>
              <a:chExt cx="2971800" cy="2705100"/>
            </a:xfrm>
          </p:grpSpPr>
          <p:sp>
            <p:nvSpPr>
              <p:cNvPr id="468" name="Google Shape;468;p24"/>
              <p:cNvSpPr/>
              <p:nvPr/>
            </p:nvSpPr>
            <p:spPr>
              <a:xfrm>
                <a:off x="0" y="0"/>
                <a:ext cx="2971800" cy="2705100"/>
              </a:xfrm>
              <a:prstGeom prst="roundRect">
                <a:avLst>
                  <a:gd fmla="val 281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0" y="0"/>
                <a:ext cx="2971800" cy="57300"/>
              </a:xfrm>
              <a:prstGeom prst="roundRect">
                <a:avLst>
                  <a:gd fmla="val 50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24"/>
              <p:cNvSpPr/>
              <p:nvPr/>
            </p:nvSpPr>
            <p:spPr>
              <a:xfrm>
                <a:off x="1219200" y="400050"/>
                <a:ext cx="533400" cy="5334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1" name="Google Shape;471;p24"/>
              <p:cNvSpPr/>
              <p:nvPr/>
            </p:nvSpPr>
            <p:spPr>
              <a:xfrm>
                <a:off x="1409700" y="609600"/>
                <a:ext cx="171600" cy="1143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8575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24"/>
              <p:cNvSpPr txBox="1"/>
              <p:nvPr/>
            </p:nvSpPr>
            <p:spPr>
              <a:xfrm>
                <a:off x="190500" y="1123950"/>
                <a:ext cx="2590800" cy="135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200">
                    <a:solidFill>
                      <a:srgbClr val="0284C7"/>
                    </a:solidFill>
                    <a:latin typeface="Inter"/>
                    <a:ea typeface="Inter"/>
                    <a:cs typeface="Inter"/>
                    <a:sym typeface="Inter"/>
                  </a:rPr>
                  <a:t>THANK YOU</a:t>
                </a:r>
                <a:endParaRPr b="1" sz="2200">
                  <a:solidFill>
                    <a:srgbClr val="0284C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Presenter</a:t>
                </a:r>
                <a:endParaRPr b="0" sz="14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0F172A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Malathi S</a:t>
                </a:r>
                <a:endParaRPr b="0" sz="140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